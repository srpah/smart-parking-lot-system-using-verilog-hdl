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ricolage Grotesque Semi-Bold" charset="1" panose="020B0605040402000204"/>
      <p:regular r:id="rId17"/>
    </p:embeddedFont>
    <p:embeddedFont>
      <p:font typeface="Bricolage Grotesque" charset="1" panose="020B0605040402000204"/>
      <p:regular r:id="rId18"/>
    </p:embeddedFont>
    <p:embeddedFont>
      <p:font typeface="Bricolage Grotesque Bold" charset="1" panose="020B060504040200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https://edaplayground.com/x/c54K"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https://edaplayground.com/x/SxCr" TargetMode="External" Type="http://schemas.openxmlformats.org/officeDocument/2006/relationships/hyperlink"/><Relationship Id="rId3" Target="https://edaplayground.com/x/F55M"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https://edaplayground.com/x/dMvx" TargetMode="External" Type="http://schemas.openxmlformats.org/officeDocument/2006/relationships/hyperlink"/><Relationship Id="rId3" Target="https://edaplayground.com/x/TNWp"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grpSp>
        <p:nvGrpSpPr>
          <p:cNvPr name="Group 2" id="2"/>
          <p:cNvGrpSpPr/>
          <p:nvPr/>
        </p:nvGrpSpPr>
        <p:grpSpPr>
          <a:xfrm rot="0">
            <a:off x="10985204" y="799337"/>
            <a:ext cx="7529967" cy="8688325"/>
            <a:chOff x="0" y="0"/>
            <a:chExt cx="1202194" cy="1387131"/>
          </a:xfrm>
        </p:grpSpPr>
        <p:sp>
          <p:nvSpPr>
            <p:cNvPr name="Freeform 3" id="3"/>
            <p:cNvSpPr/>
            <p:nvPr/>
          </p:nvSpPr>
          <p:spPr>
            <a:xfrm flipH="false" flipV="false" rot="0">
              <a:off x="0" y="0"/>
              <a:ext cx="1202194" cy="1387131"/>
            </a:xfrm>
            <a:custGeom>
              <a:avLst/>
              <a:gdLst/>
              <a:ahLst/>
              <a:cxnLst/>
              <a:rect r="r" b="b" t="t" l="l"/>
              <a:pathLst>
                <a:path h="1387131" w="1202194">
                  <a:moveTo>
                    <a:pt x="20563" y="0"/>
                  </a:moveTo>
                  <a:lnTo>
                    <a:pt x="1181631" y="0"/>
                  </a:lnTo>
                  <a:cubicBezTo>
                    <a:pt x="1187085" y="0"/>
                    <a:pt x="1192315" y="2166"/>
                    <a:pt x="1196171" y="6023"/>
                  </a:cubicBezTo>
                  <a:cubicBezTo>
                    <a:pt x="1200028" y="9879"/>
                    <a:pt x="1202194" y="15109"/>
                    <a:pt x="1202194" y="20563"/>
                  </a:cubicBezTo>
                  <a:lnTo>
                    <a:pt x="1202194" y="1366568"/>
                  </a:lnTo>
                  <a:cubicBezTo>
                    <a:pt x="1202194" y="1372022"/>
                    <a:pt x="1200028" y="1377252"/>
                    <a:pt x="1196171" y="1381109"/>
                  </a:cubicBezTo>
                  <a:cubicBezTo>
                    <a:pt x="1192315" y="1384965"/>
                    <a:pt x="1187085" y="1387131"/>
                    <a:pt x="1181631" y="1387131"/>
                  </a:cubicBezTo>
                  <a:lnTo>
                    <a:pt x="20563" y="1387131"/>
                  </a:lnTo>
                  <a:cubicBezTo>
                    <a:pt x="15109" y="1387131"/>
                    <a:pt x="9879" y="1384965"/>
                    <a:pt x="6023" y="1381109"/>
                  </a:cubicBezTo>
                  <a:cubicBezTo>
                    <a:pt x="2166" y="1377252"/>
                    <a:pt x="0" y="1372022"/>
                    <a:pt x="0" y="1366568"/>
                  </a:cubicBezTo>
                  <a:lnTo>
                    <a:pt x="0" y="20563"/>
                  </a:lnTo>
                  <a:cubicBezTo>
                    <a:pt x="0" y="15109"/>
                    <a:pt x="2166" y="9879"/>
                    <a:pt x="6023" y="6023"/>
                  </a:cubicBezTo>
                  <a:cubicBezTo>
                    <a:pt x="9879" y="2166"/>
                    <a:pt x="15109" y="0"/>
                    <a:pt x="20563" y="0"/>
                  </a:cubicBezTo>
                  <a:close/>
                </a:path>
              </a:pathLst>
            </a:custGeom>
            <a:blipFill>
              <a:blip r:embed="rId2"/>
              <a:stretch>
                <a:fillRect l="0" t="-242" r="0" b="-242"/>
              </a:stretch>
            </a:blipFill>
            <a:ln w="19050" cap="sq">
              <a:solidFill>
                <a:srgbClr val="FFFFFF"/>
              </a:solidFill>
              <a:prstDash val="solid"/>
              <a:miter/>
            </a:ln>
          </p:spPr>
        </p:sp>
      </p:grpSp>
      <p:grpSp>
        <p:nvGrpSpPr>
          <p:cNvPr name="Group 4" id="4"/>
          <p:cNvGrpSpPr/>
          <p:nvPr/>
        </p:nvGrpSpPr>
        <p:grpSpPr>
          <a:xfrm rot="0">
            <a:off x="15677043" y="6462606"/>
            <a:ext cx="3467057" cy="4305236"/>
            <a:chOff x="0" y="0"/>
            <a:chExt cx="4622743" cy="5740315"/>
          </a:xfrm>
        </p:grpSpPr>
        <p:sp>
          <p:nvSpPr>
            <p:cNvPr name="Freeform 5" id="5"/>
            <p:cNvSpPr/>
            <p:nvPr/>
          </p:nvSpPr>
          <p:spPr>
            <a:xfrm flipH="false" flipV="false" rot="-2700000">
              <a:off x="-124706" y="1478676"/>
              <a:ext cx="4872155" cy="1665391"/>
            </a:xfrm>
            <a:custGeom>
              <a:avLst/>
              <a:gdLst/>
              <a:ahLst/>
              <a:cxnLst/>
              <a:rect r="r" b="b" t="t" l="l"/>
              <a:pathLst>
                <a:path h="1665391" w="4872155">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8100000">
              <a:off x="-106337" y="2577879"/>
              <a:ext cx="4835418" cy="1702128"/>
              <a:chOff x="0" y="0"/>
              <a:chExt cx="954623" cy="336039"/>
            </a:xfrm>
          </p:grpSpPr>
          <p:sp>
            <p:nvSpPr>
              <p:cNvPr name="Freeform 7" id="7"/>
              <p:cNvSpPr/>
              <p:nvPr/>
            </p:nvSpPr>
            <p:spPr>
              <a:xfrm flipH="false" flipV="false" rot="0">
                <a:off x="0" y="0"/>
                <a:ext cx="954623" cy="336039"/>
              </a:xfrm>
              <a:custGeom>
                <a:avLst/>
                <a:gdLst/>
                <a:ahLst/>
                <a:cxnLst/>
                <a:rect r="r" b="b" t="t" l="l"/>
                <a:pathLst>
                  <a:path h="336039" w="954623">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FCA311"/>
              </a:solidFill>
              <a:ln cap="sq">
                <a:noFill/>
                <a:prstDash val="solid"/>
                <a:miter/>
              </a:ln>
            </p:spPr>
          </p:sp>
          <p:sp>
            <p:nvSpPr>
              <p:cNvPr name="TextBox 8" id="8"/>
              <p:cNvSpPr txBox="true"/>
              <p:nvPr/>
            </p:nvSpPr>
            <p:spPr>
              <a:xfrm>
                <a:off x="0" y="-19050"/>
                <a:ext cx="954623" cy="355089"/>
              </a:xfrm>
              <a:prstGeom prst="rect">
                <a:avLst/>
              </a:prstGeom>
            </p:spPr>
            <p:txBody>
              <a:bodyPr anchor="ctr" rtlCol="false" tIns="18752" lIns="18752" bIns="18752" rIns="18752"/>
              <a:lstStyle/>
              <a:p>
                <a:pPr algn="ctr" marL="0" indent="0" lvl="0">
                  <a:lnSpc>
                    <a:spcPts val="755"/>
                  </a:lnSpc>
                  <a:spcBef>
                    <a:spcPct val="0"/>
                  </a:spcBef>
                </a:pPr>
              </a:p>
            </p:txBody>
          </p:sp>
        </p:grpSp>
      </p:grpSp>
      <p:sp>
        <p:nvSpPr>
          <p:cNvPr name="Freeform 9" id="9"/>
          <p:cNvSpPr/>
          <p:nvPr/>
        </p:nvSpPr>
        <p:spPr>
          <a:xfrm flipH="false" flipV="false" rot="0">
            <a:off x="682561" y="179672"/>
            <a:ext cx="5535680" cy="1654217"/>
          </a:xfrm>
          <a:custGeom>
            <a:avLst/>
            <a:gdLst/>
            <a:ahLst/>
            <a:cxnLst/>
            <a:rect r="r" b="b" t="t" l="l"/>
            <a:pathLst>
              <a:path h="1654217" w="5535680">
                <a:moveTo>
                  <a:pt x="0" y="0"/>
                </a:moveTo>
                <a:lnTo>
                  <a:pt x="5535681" y="0"/>
                </a:lnTo>
                <a:lnTo>
                  <a:pt x="5535681" y="1654217"/>
                </a:lnTo>
                <a:lnTo>
                  <a:pt x="0" y="1654217"/>
                </a:lnTo>
                <a:lnTo>
                  <a:pt x="0" y="0"/>
                </a:lnTo>
                <a:close/>
              </a:path>
            </a:pathLst>
          </a:custGeom>
          <a:blipFill>
            <a:blip r:embed="rId5"/>
            <a:stretch>
              <a:fillRect l="0" t="0" r="0" b="0"/>
            </a:stretch>
          </a:blipFill>
        </p:spPr>
      </p:sp>
      <p:grpSp>
        <p:nvGrpSpPr>
          <p:cNvPr name="Group 10" id="10"/>
          <p:cNvGrpSpPr/>
          <p:nvPr/>
        </p:nvGrpSpPr>
        <p:grpSpPr>
          <a:xfrm rot="0">
            <a:off x="682561" y="2805167"/>
            <a:ext cx="9763125" cy="9647095"/>
            <a:chOff x="0" y="0"/>
            <a:chExt cx="13017500" cy="12862793"/>
          </a:xfrm>
        </p:grpSpPr>
        <p:sp>
          <p:nvSpPr>
            <p:cNvPr name="TextBox 11" id="11"/>
            <p:cNvSpPr txBox="true"/>
            <p:nvPr/>
          </p:nvSpPr>
          <p:spPr>
            <a:xfrm rot="0">
              <a:off x="0" y="171450"/>
              <a:ext cx="13017500" cy="4950922"/>
            </a:xfrm>
            <a:prstGeom prst="rect">
              <a:avLst/>
            </a:prstGeom>
          </p:spPr>
          <p:txBody>
            <a:bodyPr anchor="t" rtlCol="false" tIns="0" lIns="0" bIns="0" rIns="0">
              <a:spAutoFit/>
            </a:bodyPr>
            <a:lstStyle/>
            <a:p>
              <a:pPr algn="l" marL="0" indent="0" lvl="0">
                <a:lnSpc>
                  <a:spcPts val="9501"/>
                </a:lnSpc>
                <a:spcBef>
                  <a:spcPct val="0"/>
                </a:spcBef>
              </a:pPr>
              <a:r>
                <a:rPr lang="en-US" b="true" sz="9501" spc="-570">
                  <a:solidFill>
                    <a:srgbClr val="E5E5E5"/>
                  </a:solidFill>
                  <a:latin typeface="Bricolage Grotesque Semi-Bold"/>
                  <a:ea typeface="Bricolage Grotesque Semi-Bold"/>
                  <a:cs typeface="Bricolage Grotesque Semi-Bold"/>
                  <a:sym typeface="Bricolage Grotesque Semi-Bold"/>
                </a:rPr>
                <a:t>SMART PARKING SYSTEM USING VERILOG HDL</a:t>
              </a:r>
            </a:p>
          </p:txBody>
        </p:sp>
        <p:sp>
          <p:nvSpPr>
            <p:cNvPr name="TextBox 12" id="12"/>
            <p:cNvSpPr txBox="true"/>
            <p:nvPr/>
          </p:nvSpPr>
          <p:spPr>
            <a:xfrm rot="0">
              <a:off x="0" y="7838537"/>
              <a:ext cx="12860188" cy="5024256"/>
            </a:xfrm>
            <a:prstGeom prst="rect">
              <a:avLst/>
            </a:prstGeom>
          </p:spPr>
          <p:txBody>
            <a:bodyPr anchor="t" rtlCol="false" tIns="0" lIns="0" bIns="0" rIns="0">
              <a:spAutoFit/>
            </a:bodyPr>
            <a:lstStyle/>
            <a:p>
              <a:pPr algn="l">
                <a:lnSpc>
                  <a:spcPts val="4992"/>
                </a:lnSpc>
              </a:pPr>
            </a:p>
            <a:p>
              <a:pPr algn="l">
                <a:lnSpc>
                  <a:spcPts val="4602"/>
                </a:lnSpc>
              </a:pPr>
            </a:p>
            <a:p>
              <a:pPr algn="l">
                <a:lnSpc>
                  <a:spcPts val="4992"/>
                </a:lnSpc>
              </a:pPr>
            </a:p>
            <a:p>
              <a:pPr algn="l">
                <a:lnSpc>
                  <a:spcPts val="4992"/>
                </a:lnSpc>
              </a:pPr>
            </a:p>
            <a:p>
              <a:pPr algn="l">
                <a:lnSpc>
                  <a:spcPts val="4992"/>
                </a:lnSpc>
              </a:pPr>
            </a:p>
            <a:p>
              <a:pPr algn="l" marL="0" indent="0" lvl="0">
                <a:lnSpc>
                  <a:spcPts val="5516"/>
                </a:lnSpc>
              </a:pP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666750" y="800100"/>
            <a:ext cx="16954500" cy="930275"/>
          </a:xfrm>
          <a:prstGeom prst="rect">
            <a:avLst/>
          </a:prstGeom>
        </p:spPr>
        <p:txBody>
          <a:bodyPr anchor="t" rtlCol="false" tIns="0" lIns="0" bIns="0" rIns="0">
            <a:spAutoFit/>
          </a:bodyPr>
          <a:lstStyle/>
          <a:p>
            <a:pPr algn="l" marL="0" indent="0" lvl="0">
              <a:lnSpc>
                <a:spcPts val="6999"/>
              </a:lnSpc>
              <a:spcBef>
                <a:spcPct val="0"/>
              </a:spcBef>
            </a:pPr>
            <a:r>
              <a:rPr lang="en-US" b="true" sz="6999" spc="-209">
                <a:solidFill>
                  <a:srgbClr val="FCA311"/>
                </a:solidFill>
                <a:latin typeface="Bricolage Grotesque Semi-Bold"/>
                <a:ea typeface="Bricolage Grotesque Semi-Bold"/>
                <a:cs typeface="Bricolage Grotesque Semi-Bold"/>
                <a:sym typeface="Bricolage Grotesque Semi-Bold"/>
              </a:rPr>
              <a:t>Project Overview</a:t>
            </a:r>
          </a:p>
        </p:txBody>
      </p:sp>
      <p:sp>
        <p:nvSpPr>
          <p:cNvPr name="TextBox 3" id="3"/>
          <p:cNvSpPr txBox="true"/>
          <p:nvPr/>
        </p:nvSpPr>
        <p:spPr>
          <a:xfrm rot="0">
            <a:off x="666750" y="2100116"/>
            <a:ext cx="16954500" cy="1460500"/>
          </a:xfrm>
          <a:prstGeom prst="rect">
            <a:avLst/>
          </a:prstGeom>
        </p:spPr>
        <p:txBody>
          <a:bodyPr anchor="t" rtlCol="false" tIns="0" lIns="0" bIns="0" rIns="0">
            <a:spAutoFit/>
          </a:bodyPr>
          <a:lstStyle/>
          <a:p>
            <a:pPr algn="l">
              <a:lnSpc>
                <a:spcPts val="2000"/>
              </a:lnSpc>
            </a:pPr>
          </a:p>
          <a:p>
            <a:pPr algn="l">
              <a:lnSpc>
                <a:spcPts val="2499"/>
              </a:lnSpc>
            </a:pPr>
            <a:r>
              <a:rPr lang="en-US" sz="2499" spc="-149">
                <a:solidFill>
                  <a:srgbClr val="FFFFFF"/>
                </a:solidFill>
                <a:latin typeface="Bricolage Grotesque"/>
                <a:ea typeface="Bricolage Grotesque"/>
                <a:cs typeface="Bricolage Grotesque"/>
                <a:sym typeface="Bricolage Grotesque"/>
              </a:rPr>
              <a:t>Project Objective:</a:t>
            </a:r>
          </a:p>
          <a:p>
            <a:pPr algn="l">
              <a:lnSpc>
                <a:spcPts val="2499"/>
              </a:lnSpc>
            </a:pPr>
            <a:r>
              <a:rPr lang="en-US" sz="2499" spc="-149">
                <a:solidFill>
                  <a:srgbClr val="FFFFFF"/>
                </a:solidFill>
                <a:latin typeface="Bricolage Grotesque"/>
                <a:ea typeface="Bricolage Grotesque"/>
                <a:cs typeface="Bricolage Grotesque"/>
                <a:sym typeface="Bricolage Grotesque"/>
              </a:rPr>
              <a:t>To design and implement a fully autonomous, and accurate smart parking controller that can independently manage vehicle entry, parking slot assignment, time tracking, billing, and exit operations using a synchronized digital logic system with Verilog HDL. </a:t>
            </a:r>
          </a:p>
          <a:p>
            <a:pPr algn="l">
              <a:lnSpc>
                <a:spcPts val="2000"/>
              </a:lnSpc>
              <a:spcBef>
                <a:spcPct val="0"/>
              </a:spcBef>
            </a:pPr>
          </a:p>
        </p:txBody>
      </p:sp>
      <p:sp>
        <p:nvSpPr>
          <p:cNvPr name="TextBox 4" id="4"/>
          <p:cNvSpPr txBox="true"/>
          <p:nvPr/>
        </p:nvSpPr>
        <p:spPr>
          <a:xfrm rot="0">
            <a:off x="9144000" y="3941616"/>
            <a:ext cx="8477250" cy="2933065"/>
          </a:xfrm>
          <a:prstGeom prst="rect">
            <a:avLst/>
          </a:prstGeom>
        </p:spPr>
        <p:txBody>
          <a:bodyPr anchor="t" rtlCol="false" tIns="0" lIns="0" bIns="0" rIns="0">
            <a:spAutoFit/>
          </a:bodyPr>
          <a:lstStyle/>
          <a:p>
            <a:pPr algn="l">
              <a:lnSpc>
                <a:spcPts val="2199"/>
              </a:lnSpc>
            </a:pPr>
            <a:r>
              <a:rPr lang="en-US" sz="2199" spc="-131">
                <a:solidFill>
                  <a:srgbClr val="FFFFFF"/>
                </a:solidFill>
                <a:latin typeface="Bricolage Grotesque"/>
                <a:ea typeface="Bricolage Grotesque"/>
                <a:cs typeface="Bricolage Grotesque"/>
                <a:sym typeface="Bricolage Grotesque"/>
              </a:rPr>
              <a:t>03</a:t>
            </a:r>
          </a:p>
          <a:p>
            <a:pPr algn="l">
              <a:lnSpc>
                <a:spcPts val="2199"/>
              </a:lnSpc>
            </a:pPr>
            <a:r>
              <a:rPr lang="en-US" sz="2199" spc="-131" b="true">
                <a:solidFill>
                  <a:srgbClr val="FFFFFF"/>
                </a:solidFill>
                <a:latin typeface="Bricolage Grotesque Bold"/>
                <a:ea typeface="Bricolage Grotesque Bold"/>
                <a:cs typeface="Bricolage Grotesque Bold"/>
                <a:sym typeface="Bricolage Grotesque Bold"/>
              </a:rPr>
              <a:t>Technical Architecture</a:t>
            </a:r>
          </a:p>
          <a:p>
            <a:pPr algn="l">
              <a:lnSpc>
                <a:spcPts val="2199"/>
              </a:lnSpc>
            </a:pPr>
            <a:r>
              <a:rPr lang="en-US" sz="2199" spc="-131">
                <a:solidFill>
                  <a:srgbClr val="FFFFFF"/>
                </a:solidFill>
                <a:latin typeface="Bricolage Grotesque"/>
                <a:ea typeface="Bricolage Grotesque"/>
                <a:cs typeface="Bricolage Grotesque"/>
                <a:sym typeface="Bricolage Grotesque"/>
              </a:rPr>
              <a:t>A centralized FSM governs system flow—from entry detection to slot assignment, billing activation, waiting for payment, and final exit authorization. The design integrates multiple interacting hardware modules including a Slot Manager, Timer &amp; Billing Unit, Payment Logic, and Gate Actuation. Each module operates synchronously under clock control, enabling reliable and predictable state transitions.</a:t>
            </a:r>
          </a:p>
          <a:p>
            <a:pPr algn="l">
              <a:lnSpc>
                <a:spcPts val="2499"/>
              </a:lnSpc>
            </a:pPr>
          </a:p>
          <a:p>
            <a:pPr algn="ctr">
              <a:lnSpc>
                <a:spcPts val="3000"/>
              </a:lnSpc>
              <a:spcBef>
                <a:spcPct val="0"/>
              </a:spcBef>
            </a:pPr>
          </a:p>
        </p:txBody>
      </p:sp>
      <p:sp>
        <p:nvSpPr>
          <p:cNvPr name="TextBox 5" id="5"/>
          <p:cNvSpPr txBox="true"/>
          <p:nvPr/>
        </p:nvSpPr>
        <p:spPr>
          <a:xfrm rot="0">
            <a:off x="666750" y="6498188"/>
            <a:ext cx="8026063" cy="2801200"/>
          </a:xfrm>
          <a:prstGeom prst="rect">
            <a:avLst/>
          </a:prstGeom>
        </p:spPr>
        <p:txBody>
          <a:bodyPr anchor="t" rtlCol="false" tIns="0" lIns="0" bIns="0" rIns="0">
            <a:spAutoFit/>
          </a:bodyPr>
          <a:lstStyle/>
          <a:p>
            <a:pPr algn="l">
              <a:lnSpc>
                <a:spcPts val="2199"/>
              </a:lnSpc>
            </a:pPr>
            <a:r>
              <a:rPr lang="en-US" sz="2199" spc="-131" b="true">
                <a:solidFill>
                  <a:srgbClr val="FFFFFF"/>
                </a:solidFill>
                <a:latin typeface="Bricolage Grotesque Semi-Bold"/>
                <a:ea typeface="Bricolage Grotesque Semi-Bold"/>
                <a:cs typeface="Bricolage Grotesque Semi-Bold"/>
                <a:sym typeface="Bricolage Grotesque Semi-Bold"/>
              </a:rPr>
              <a:t>02</a:t>
            </a:r>
          </a:p>
          <a:p>
            <a:pPr algn="l">
              <a:lnSpc>
                <a:spcPts val="2199"/>
              </a:lnSpc>
            </a:pPr>
            <a:r>
              <a:rPr lang="en-US" sz="2199" spc="-131" b="true">
                <a:solidFill>
                  <a:srgbClr val="FFFFFF"/>
                </a:solidFill>
                <a:latin typeface="Bricolage Grotesque Bold"/>
                <a:ea typeface="Bricolage Grotesque Bold"/>
                <a:cs typeface="Bricolage Grotesque Bold"/>
                <a:sym typeface="Bricolage Grotesque Bold"/>
              </a:rPr>
              <a:t>System Capabilities</a:t>
            </a:r>
          </a:p>
          <a:p>
            <a:pPr algn="l">
              <a:lnSpc>
                <a:spcPts val="2199"/>
              </a:lnSpc>
            </a:pPr>
            <a:r>
              <a:rPr lang="en-US" sz="2199" spc="-131">
                <a:solidFill>
                  <a:srgbClr val="FFFFFF"/>
                </a:solidFill>
                <a:latin typeface="Bricolage Grotesque"/>
                <a:ea typeface="Bricolage Grotesque"/>
                <a:cs typeface="Bricolage Grotesque"/>
                <a:sym typeface="Bricolage Grotesque"/>
              </a:rPr>
              <a:t> The system supports up to four parking slots and performs deterministic first-fit allocation. It continuously monitors slot availability, prevents entry when the lot is full, and enforces proper exit flow by requiring payment before barrier activation. The design also features automated gate control, real-time timer-based billing, fallback behavior on user selection errors, and full operational feedback via visible system signals.</a:t>
            </a:r>
          </a:p>
          <a:p>
            <a:pPr algn="l">
              <a:lnSpc>
                <a:spcPts val="2366"/>
              </a:lnSpc>
              <a:spcBef>
                <a:spcPct val="0"/>
              </a:spcBef>
            </a:pPr>
          </a:p>
        </p:txBody>
      </p:sp>
      <p:sp>
        <p:nvSpPr>
          <p:cNvPr name="TextBox 6" id="6"/>
          <p:cNvSpPr txBox="true"/>
          <p:nvPr/>
        </p:nvSpPr>
        <p:spPr>
          <a:xfrm rot="0">
            <a:off x="666750" y="3941616"/>
            <a:ext cx="8155778" cy="2342515"/>
          </a:xfrm>
          <a:prstGeom prst="rect">
            <a:avLst/>
          </a:prstGeom>
        </p:spPr>
        <p:txBody>
          <a:bodyPr anchor="t" rtlCol="false" tIns="0" lIns="0" bIns="0" rIns="0">
            <a:spAutoFit/>
          </a:bodyPr>
          <a:lstStyle/>
          <a:p>
            <a:pPr algn="l">
              <a:lnSpc>
                <a:spcPts val="2199"/>
              </a:lnSpc>
            </a:pPr>
            <a:r>
              <a:rPr lang="en-US" sz="2199" spc="-131">
                <a:solidFill>
                  <a:srgbClr val="FFFFFF"/>
                </a:solidFill>
                <a:latin typeface="Bricolage Grotesque"/>
                <a:ea typeface="Bricolage Grotesque"/>
                <a:cs typeface="Bricolage Grotesque"/>
                <a:sym typeface="Bricolage Grotesque"/>
              </a:rPr>
              <a:t>01</a:t>
            </a:r>
          </a:p>
          <a:p>
            <a:pPr algn="l">
              <a:lnSpc>
                <a:spcPts val="2199"/>
              </a:lnSpc>
            </a:pPr>
            <a:r>
              <a:rPr lang="en-US" sz="2199" spc="-131">
                <a:solidFill>
                  <a:srgbClr val="FFFFFF"/>
                </a:solidFill>
                <a:latin typeface="Bricolage Grotesque"/>
                <a:ea typeface="Bricolage Grotesque"/>
                <a:cs typeface="Bricolage Grotesque"/>
                <a:sym typeface="Bricolage Grotesque"/>
              </a:rPr>
              <a:t>The project delivers a fully autonomous parking controller that simulates a real-world multi-slot parking facility. The system handles entry detection, parking confirmation, automated slot assignment, billing based on elapsed time, and exit authorization only after payment is confirmed—ensuring secure, orderly, and accurate vehicle processing.</a:t>
            </a:r>
          </a:p>
          <a:p>
            <a:pPr algn="l">
              <a:lnSpc>
                <a:spcPts val="2199"/>
              </a:lnSpc>
            </a:pPr>
          </a:p>
          <a:p>
            <a:pPr algn="ctr">
              <a:lnSpc>
                <a:spcPts val="3000"/>
              </a:lnSpc>
              <a:spcBef>
                <a:spcPct val="0"/>
              </a:spcBef>
            </a:pPr>
          </a:p>
        </p:txBody>
      </p:sp>
      <p:sp>
        <p:nvSpPr>
          <p:cNvPr name="TextBox 7" id="7"/>
          <p:cNvSpPr txBox="true"/>
          <p:nvPr/>
        </p:nvSpPr>
        <p:spPr>
          <a:xfrm rot="0">
            <a:off x="9144000" y="6498188"/>
            <a:ext cx="8477250" cy="2933065"/>
          </a:xfrm>
          <a:prstGeom prst="rect">
            <a:avLst/>
          </a:prstGeom>
        </p:spPr>
        <p:txBody>
          <a:bodyPr anchor="t" rtlCol="false" tIns="0" lIns="0" bIns="0" rIns="0">
            <a:spAutoFit/>
          </a:bodyPr>
          <a:lstStyle/>
          <a:p>
            <a:pPr algn="l">
              <a:lnSpc>
                <a:spcPts val="2199"/>
              </a:lnSpc>
            </a:pPr>
            <a:r>
              <a:rPr lang="en-US" sz="2199" spc="-131">
                <a:solidFill>
                  <a:srgbClr val="FFFFFF"/>
                </a:solidFill>
                <a:latin typeface="Bricolage Grotesque"/>
                <a:ea typeface="Bricolage Grotesque"/>
                <a:cs typeface="Bricolage Grotesque"/>
                <a:sym typeface="Bricolage Grotesque"/>
              </a:rPr>
              <a:t>04</a:t>
            </a:r>
          </a:p>
          <a:p>
            <a:pPr algn="l">
              <a:lnSpc>
                <a:spcPts val="2199"/>
              </a:lnSpc>
            </a:pPr>
            <a:r>
              <a:rPr lang="en-US" sz="2199" spc="-131" b="true">
                <a:solidFill>
                  <a:srgbClr val="FFFFFF"/>
                </a:solidFill>
                <a:latin typeface="Bricolage Grotesque Bold"/>
                <a:ea typeface="Bricolage Grotesque Bold"/>
                <a:cs typeface="Bricolage Grotesque Bold"/>
                <a:sym typeface="Bricolage Grotesque Bold"/>
              </a:rPr>
              <a:t>Verification &amp; Validation</a:t>
            </a:r>
          </a:p>
          <a:p>
            <a:pPr algn="l">
              <a:lnSpc>
                <a:spcPts val="2199"/>
              </a:lnSpc>
            </a:pPr>
            <a:r>
              <a:rPr lang="en-US" sz="2199" spc="-131">
                <a:solidFill>
                  <a:srgbClr val="FFFFFF"/>
                </a:solidFill>
                <a:latin typeface="Bricolage Grotesque"/>
                <a:ea typeface="Bricolage Grotesque"/>
                <a:cs typeface="Bricolage Grotesque"/>
                <a:sym typeface="Bricolage Grotesque"/>
              </a:rPr>
              <a:t> The system is validated using structured module-level and top-level simulation testbenches. Extensive waveform analysis confirms correct state sequencing, accurate billing computation, proper slot tracking, enforcement of payment-before-exit logic, and robust handling of edge cases such as full capacity, invalid exit selection, payment not completed, timer restart after reentry.</a:t>
            </a:r>
          </a:p>
          <a:p>
            <a:pPr algn="l">
              <a:lnSpc>
                <a:spcPts val="2499"/>
              </a:lnSpc>
            </a:pPr>
          </a:p>
          <a:p>
            <a:pPr algn="ctr">
              <a:lnSpc>
                <a:spcPts val="30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194135"/>
            <a:ext cx="16230600" cy="6755987"/>
          </a:xfrm>
          <a:custGeom>
            <a:avLst/>
            <a:gdLst/>
            <a:ahLst/>
            <a:cxnLst/>
            <a:rect r="r" b="b" t="t" l="l"/>
            <a:pathLst>
              <a:path h="6755987" w="16230600">
                <a:moveTo>
                  <a:pt x="0" y="0"/>
                </a:moveTo>
                <a:lnTo>
                  <a:pt x="16230600" y="0"/>
                </a:lnTo>
                <a:lnTo>
                  <a:pt x="16230600" y="6755987"/>
                </a:lnTo>
                <a:lnTo>
                  <a:pt x="0" y="6755987"/>
                </a:lnTo>
                <a:lnTo>
                  <a:pt x="0" y="0"/>
                </a:lnTo>
                <a:close/>
              </a:path>
            </a:pathLst>
          </a:custGeom>
          <a:blipFill>
            <a:blip r:embed="rId2"/>
            <a:stretch>
              <a:fillRect l="0" t="0" r="0" b="0"/>
            </a:stretch>
          </a:blipFill>
        </p:spPr>
      </p:sp>
      <p:sp>
        <p:nvSpPr>
          <p:cNvPr name="TextBox 3" id="3"/>
          <p:cNvSpPr txBox="true"/>
          <p:nvPr/>
        </p:nvSpPr>
        <p:spPr>
          <a:xfrm rot="0">
            <a:off x="2241013" y="643551"/>
            <a:ext cx="14081522" cy="894122"/>
          </a:xfrm>
          <a:prstGeom prst="rect">
            <a:avLst/>
          </a:prstGeom>
        </p:spPr>
        <p:txBody>
          <a:bodyPr anchor="t" rtlCol="false" tIns="0" lIns="0" bIns="0" rIns="0">
            <a:spAutoFit/>
          </a:bodyPr>
          <a:lstStyle/>
          <a:p>
            <a:pPr algn="ctr">
              <a:lnSpc>
                <a:spcPts val="6701"/>
              </a:lnSpc>
              <a:spcBef>
                <a:spcPct val="0"/>
              </a:spcBef>
            </a:pPr>
            <a:r>
              <a:rPr lang="en-US" b="true" sz="6701" spc="-402">
                <a:solidFill>
                  <a:srgbClr val="FFFFFF"/>
                </a:solidFill>
                <a:latin typeface="Bricolage Grotesque Semi-Bold"/>
                <a:ea typeface="Bricolage Grotesque Semi-Bold"/>
                <a:cs typeface="Bricolage Grotesque Semi-Bold"/>
                <a:sym typeface="Bricolage Grotesque Semi-Bold"/>
              </a:rPr>
              <a:t>Core Logic: FSM Controller Architecture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028700" y="637519"/>
            <a:ext cx="8442871" cy="906187"/>
          </a:xfrm>
          <a:prstGeom prst="rect">
            <a:avLst/>
          </a:prstGeom>
        </p:spPr>
        <p:txBody>
          <a:bodyPr anchor="t" rtlCol="false" tIns="0" lIns="0" bIns="0" rIns="0">
            <a:spAutoFit/>
          </a:bodyPr>
          <a:lstStyle/>
          <a:p>
            <a:pPr algn="ctr">
              <a:lnSpc>
                <a:spcPts val="6801"/>
              </a:lnSpc>
              <a:spcBef>
                <a:spcPct val="0"/>
              </a:spcBef>
            </a:pPr>
            <a:r>
              <a:rPr lang="en-US" b="true" sz="6801" spc="-408">
                <a:solidFill>
                  <a:srgbClr val="FCA311"/>
                </a:solidFill>
                <a:latin typeface="Bricolage Grotesque Semi-Bold"/>
                <a:ea typeface="Bricolage Grotesque Semi-Bold"/>
                <a:cs typeface="Bricolage Grotesque Semi-Bold"/>
                <a:sym typeface="Bricolage Grotesque Semi-Bold"/>
              </a:rPr>
              <a:t>Module: FSM controller</a:t>
            </a:r>
          </a:p>
        </p:txBody>
      </p:sp>
      <p:sp>
        <p:nvSpPr>
          <p:cNvPr name="TextBox 3" id="3"/>
          <p:cNvSpPr txBox="true"/>
          <p:nvPr/>
        </p:nvSpPr>
        <p:spPr>
          <a:xfrm rot="0">
            <a:off x="10770710" y="2043470"/>
            <a:ext cx="6072659" cy="7826558"/>
          </a:xfrm>
          <a:prstGeom prst="rect">
            <a:avLst/>
          </a:prstGeom>
        </p:spPr>
        <p:txBody>
          <a:bodyPr anchor="t" rtlCol="false" tIns="0" lIns="0" bIns="0" rIns="0">
            <a:spAutoFit/>
          </a:bodyPr>
          <a:lstStyle/>
          <a:p>
            <a:pPr algn="l">
              <a:lnSpc>
                <a:spcPts val="2507"/>
              </a:lnSpc>
            </a:pPr>
            <a:r>
              <a:rPr lang="en-US" sz="2507" spc="-150" b="true">
                <a:solidFill>
                  <a:srgbClr val="FFFFFF"/>
                </a:solidFill>
                <a:latin typeface="Bricolage Grotesque Bold"/>
                <a:ea typeface="Bricolage Grotesque Bold"/>
                <a:cs typeface="Bricolage Grotesque Bold"/>
                <a:sym typeface="Bricolage Grotesque Bold"/>
              </a:rPr>
              <a:t>PSEUDOCODE:</a:t>
            </a:r>
          </a:p>
          <a:p>
            <a:pPr algn="l">
              <a:lnSpc>
                <a:spcPts val="2307"/>
              </a:lnSpc>
            </a:pPr>
            <a:r>
              <a:rPr lang="en-US" sz="2307" spc="-138">
                <a:solidFill>
                  <a:srgbClr val="FFFFFF"/>
                </a:solidFill>
                <a:latin typeface="Bricolage Grotesque"/>
                <a:ea typeface="Bricolage Grotesque"/>
                <a:cs typeface="Bricolage Grotesque"/>
                <a:sym typeface="Bricolage Grotesque"/>
              </a:rPr>
              <a:t>STATE MACHINE:</a:t>
            </a:r>
          </a:p>
          <a:p>
            <a:pPr algn="l">
              <a:lnSpc>
                <a:spcPts val="2307"/>
              </a:lnSpc>
            </a:pPr>
            <a:r>
              <a:rPr lang="en-US" sz="2307" spc="-138">
                <a:solidFill>
                  <a:srgbClr val="FFFFFF"/>
                </a:solidFill>
                <a:latin typeface="Bricolage Grotesque"/>
                <a:ea typeface="Bricolage Grotesque"/>
                <a:cs typeface="Bricolage Grotesque"/>
                <a:sym typeface="Bricolage Grotesque"/>
              </a:rPr>
              <a:t>Initial State → IDLE</a:t>
            </a:r>
          </a:p>
          <a:p>
            <a:pPr algn="l">
              <a:lnSpc>
                <a:spcPts val="2307"/>
              </a:lnSpc>
            </a:pPr>
            <a:r>
              <a:rPr lang="en-US" sz="2307" spc="-138">
                <a:solidFill>
                  <a:srgbClr val="FFFFFF"/>
                </a:solidFill>
                <a:latin typeface="Bricolage Grotesque"/>
                <a:ea typeface="Bricolage Grotesque"/>
                <a:cs typeface="Bricolage Grotesque"/>
                <a:sym typeface="Bricolage Grotesque"/>
              </a:rPr>
              <a:t>LOOP forever:</a:t>
            </a:r>
          </a:p>
          <a:p>
            <a:pPr algn="l">
              <a:lnSpc>
                <a:spcPts val="2307"/>
              </a:lnSpc>
            </a:pPr>
            <a:r>
              <a:rPr lang="en-US" sz="2307" spc="-138">
                <a:solidFill>
                  <a:srgbClr val="FFFFFF"/>
                </a:solidFill>
                <a:latin typeface="Bricolage Grotesque"/>
                <a:ea typeface="Bricolage Grotesque"/>
                <a:cs typeface="Bricolage Grotesque"/>
                <a:sym typeface="Bricolage Grotesque"/>
              </a:rPr>
              <a:t>   IDLE:</a:t>
            </a:r>
          </a:p>
          <a:p>
            <a:pPr algn="l">
              <a:lnSpc>
                <a:spcPts val="2307"/>
              </a:lnSpc>
            </a:pPr>
            <a:r>
              <a:rPr lang="en-US" sz="2307" spc="-138">
                <a:solidFill>
                  <a:srgbClr val="FFFFFF"/>
                </a:solidFill>
                <a:latin typeface="Bricolage Grotesque"/>
                <a:ea typeface="Bricolage Grotesque"/>
                <a:cs typeface="Bricolage Grotesque"/>
                <a:sym typeface="Bricolage Grotesque"/>
              </a:rPr>
              <a:t>       If entry_pulse AND slot_available:</a:t>
            </a:r>
          </a:p>
          <a:p>
            <a:pPr algn="l">
              <a:lnSpc>
                <a:spcPts val="2307"/>
              </a:lnSpc>
            </a:pPr>
            <a:r>
              <a:rPr lang="en-US" sz="2307" spc="-138">
                <a:solidFill>
                  <a:srgbClr val="FFFFFF"/>
                </a:solidFill>
                <a:latin typeface="Bricolage Grotesque"/>
                <a:ea typeface="Bricolage Grotesque"/>
                <a:cs typeface="Bricolage Grotesque"/>
                <a:sym typeface="Bricolage Grotesque"/>
              </a:rPr>
              <a:t>           Go to ALLOCATE_SLOT</a:t>
            </a:r>
          </a:p>
          <a:p>
            <a:pPr algn="l">
              <a:lnSpc>
                <a:spcPts val="2307"/>
              </a:lnSpc>
            </a:pPr>
            <a:r>
              <a:rPr lang="en-US" sz="2307" spc="-138">
                <a:solidFill>
                  <a:srgbClr val="FFFFFF"/>
                </a:solidFill>
                <a:latin typeface="Bricolage Grotesque"/>
                <a:ea typeface="Bricolage Grotesque"/>
                <a:cs typeface="Bricolage Grotesque"/>
                <a:sym typeface="Bricolage Grotesque"/>
              </a:rPr>
              <a:t>       Else if exit_pulse AND at least one car inside:</a:t>
            </a:r>
          </a:p>
          <a:p>
            <a:pPr algn="l">
              <a:lnSpc>
                <a:spcPts val="2307"/>
              </a:lnSpc>
            </a:pPr>
            <a:r>
              <a:rPr lang="en-US" sz="2307" spc="-138">
                <a:solidFill>
                  <a:srgbClr val="FFFFFF"/>
                </a:solidFill>
                <a:latin typeface="Bricolage Grotesque"/>
                <a:ea typeface="Bricolage Grotesque"/>
                <a:cs typeface="Bricolage Grotesque"/>
                <a:sym typeface="Bricolage Grotesque"/>
              </a:rPr>
              <a:t>           Go to EXIT_REQUEST</a:t>
            </a:r>
          </a:p>
          <a:p>
            <a:pPr algn="l">
              <a:lnSpc>
                <a:spcPts val="2307"/>
              </a:lnSpc>
            </a:pPr>
            <a:r>
              <a:rPr lang="en-US" sz="2307" spc="-138">
                <a:solidFill>
                  <a:srgbClr val="FFFFFF"/>
                </a:solidFill>
                <a:latin typeface="Bricolage Grotesque"/>
                <a:ea typeface="Bricolage Grotesque"/>
                <a:cs typeface="Bricolage Grotesque"/>
                <a:sym typeface="Bricolage Grotesque"/>
              </a:rPr>
              <a:t>   ALLOCATE_SLOT:</a:t>
            </a:r>
          </a:p>
          <a:p>
            <a:pPr algn="l">
              <a:lnSpc>
                <a:spcPts val="2307"/>
              </a:lnSpc>
            </a:pPr>
            <a:r>
              <a:rPr lang="en-US" sz="2307" spc="-138">
                <a:solidFill>
                  <a:srgbClr val="FFFFFF"/>
                </a:solidFill>
                <a:latin typeface="Bricolage Grotesque"/>
                <a:ea typeface="Bricolage Grotesque"/>
                <a:cs typeface="Bricolage Grotesque"/>
                <a:sym typeface="Bricolage Grotesque"/>
              </a:rPr>
              <a:t>       Signal alloc_req = 1</a:t>
            </a:r>
          </a:p>
          <a:p>
            <a:pPr algn="l">
              <a:lnSpc>
                <a:spcPts val="2307"/>
              </a:lnSpc>
            </a:pPr>
            <a:r>
              <a:rPr lang="en-US" sz="2307" spc="-138">
                <a:solidFill>
                  <a:srgbClr val="FFFFFF"/>
                </a:solidFill>
                <a:latin typeface="Bricolage Grotesque"/>
                <a:ea typeface="Bricolage Grotesque"/>
                <a:cs typeface="Bricolage Grotesque"/>
                <a:sym typeface="Bricolage Grotesque"/>
              </a:rPr>
              <a:t>       Go to ENTRY_GATE_OPEN</a:t>
            </a:r>
          </a:p>
          <a:p>
            <a:pPr algn="l">
              <a:lnSpc>
                <a:spcPts val="2307"/>
              </a:lnSpc>
            </a:pPr>
            <a:r>
              <a:rPr lang="en-US" sz="2307" spc="-138">
                <a:solidFill>
                  <a:srgbClr val="FFFFFF"/>
                </a:solidFill>
                <a:latin typeface="Bricolage Grotesque"/>
                <a:ea typeface="Bricolage Grotesque"/>
                <a:cs typeface="Bricolage Grotesque"/>
                <a:sym typeface="Bricolage Grotesque"/>
              </a:rPr>
              <a:t>   ENTRY_GATE_OPEN:</a:t>
            </a:r>
          </a:p>
          <a:p>
            <a:pPr algn="l">
              <a:lnSpc>
                <a:spcPts val="2307"/>
              </a:lnSpc>
            </a:pPr>
            <a:r>
              <a:rPr lang="en-US" sz="2307" spc="-138">
                <a:solidFill>
                  <a:srgbClr val="FFFFFF"/>
                </a:solidFill>
                <a:latin typeface="Bricolage Grotesque"/>
                <a:ea typeface="Bricolage Grotesque"/>
                <a:cs typeface="Bricolage Grotesque"/>
                <a:sym typeface="Bricolage Grotesque"/>
              </a:rPr>
              <a:t>       Open entry gate</a:t>
            </a:r>
          </a:p>
          <a:p>
            <a:pPr algn="l">
              <a:lnSpc>
                <a:spcPts val="2307"/>
              </a:lnSpc>
            </a:pPr>
            <a:r>
              <a:rPr lang="en-US" sz="2307" spc="-138">
                <a:solidFill>
                  <a:srgbClr val="FFFFFF"/>
                </a:solidFill>
                <a:latin typeface="Bricolage Grotesque"/>
                <a:ea typeface="Bricolage Grotesque"/>
                <a:cs typeface="Bricolage Grotesque"/>
                <a:sym typeface="Bricolage Grotesque"/>
              </a:rPr>
              <a:t>       Return to IDLE</a:t>
            </a:r>
          </a:p>
          <a:p>
            <a:pPr algn="l">
              <a:lnSpc>
                <a:spcPts val="2307"/>
              </a:lnSpc>
            </a:pPr>
            <a:r>
              <a:rPr lang="en-US" sz="2307" spc="-138">
                <a:solidFill>
                  <a:srgbClr val="FFFFFF"/>
                </a:solidFill>
                <a:latin typeface="Bricolage Grotesque"/>
                <a:ea typeface="Bricolage Grotesque"/>
                <a:cs typeface="Bricolage Grotesque"/>
                <a:sym typeface="Bricolage Grotesque"/>
              </a:rPr>
              <a:t>   EXIT_REQUEST:</a:t>
            </a:r>
          </a:p>
          <a:p>
            <a:pPr algn="l">
              <a:lnSpc>
                <a:spcPts val="2307"/>
              </a:lnSpc>
            </a:pPr>
            <a:r>
              <a:rPr lang="en-US" sz="2307" spc="-138">
                <a:solidFill>
                  <a:srgbClr val="FFFFFF"/>
                </a:solidFill>
                <a:latin typeface="Bricolage Grotesque"/>
                <a:ea typeface="Bricolage Grotesque"/>
                <a:cs typeface="Bricolage Grotesque"/>
                <a:sym typeface="Bricolage Grotesque"/>
              </a:rPr>
              <a:t>       Signal fee_ready = 1</a:t>
            </a:r>
          </a:p>
          <a:p>
            <a:pPr algn="l">
              <a:lnSpc>
                <a:spcPts val="2307"/>
              </a:lnSpc>
            </a:pPr>
            <a:r>
              <a:rPr lang="en-US" sz="2307" spc="-138">
                <a:solidFill>
                  <a:srgbClr val="FFFFFF"/>
                </a:solidFill>
                <a:latin typeface="Bricolage Grotesque"/>
                <a:ea typeface="Bricolage Grotesque"/>
                <a:cs typeface="Bricolage Grotesque"/>
                <a:sym typeface="Bricolage Grotesque"/>
              </a:rPr>
              <a:t>       Go to WAIT_PAYMENT</a:t>
            </a:r>
          </a:p>
          <a:p>
            <a:pPr algn="l">
              <a:lnSpc>
                <a:spcPts val="2307"/>
              </a:lnSpc>
            </a:pPr>
            <a:r>
              <a:rPr lang="en-US" sz="2307" spc="-138">
                <a:solidFill>
                  <a:srgbClr val="FFFFFF"/>
                </a:solidFill>
                <a:latin typeface="Bricolage Grotesque"/>
                <a:ea typeface="Bricolage Grotesque"/>
                <a:cs typeface="Bricolage Grotesque"/>
                <a:sym typeface="Bricolage Grotesque"/>
              </a:rPr>
              <a:t>   WAIT_PAYMENT:</a:t>
            </a:r>
          </a:p>
          <a:p>
            <a:pPr algn="l">
              <a:lnSpc>
                <a:spcPts val="2307"/>
              </a:lnSpc>
            </a:pPr>
            <a:r>
              <a:rPr lang="en-US" sz="2307" spc="-138">
                <a:solidFill>
                  <a:srgbClr val="FFFFFF"/>
                </a:solidFill>
                <a:latin typeface="Bricolage Grotesque"/>
                <a:ea typeface="Bricolage Grotesque"/>
                <a:cs typeface="Bricolage Grotesque"/>
                <a:sym typeface="Bricolage Grotesque"/>
              </a:rPr>
              <a:t>       fee_ready = 1</a:t>
            </a:r>
          </a:p>
          <a:p>
            <a:pPr algn="l">
              <a:lnSpc>
                <a:spcPts val="2307"/>
              </a:lnSpc>
            </a:pPr>
            <a:r>
              <a:rPr lang="en-US" sz="2307" spc="-138">
                <a:solidFill>
                  <a:srgbClr val="FFFFFF"/>
                </a:solidFill>
                <a:latin typeface="Bricolage Grotesque"/>
                <a:ea typeface="Bricolage Grotesque"/>
                <a:cs typeface="Bricolage Grotesque"/>
                <a:sym typeface="Bricolage Grotesque"/>
              </a:rPr>
              <a:t>       If payment_received:</a:t>
            </a:r>
          </a:p>
          <a:p>
            <a:pPr algn="l">
              <a:lnSpc>
                <a:spcPts val="2307"/>
              </a:lnSpc>
            </a:pPr>
            <a:r>
              <a:rPr lang="en-US" sz="2307" spc="-138">
                <a:solidFill>
                  <a:srgbClr val="FFFFFF"/>
                </a:solidFill>
                <a:latin typeface="Bricolage Grotesque"/>
                <a:ea typeface="Bricolage Grotesque"/>
                <a:cs typeface="Bricolage Grotesque"/>
                <a:sym typeface="Bricolage Grotesque"/>
              </a:rPr>
              <a:t>           Signal free_req = 1</a:t>
            </a:r>
          </a:p>
          <a:p>
            <a:pPr algn="l">
              <a:lnSpc>
                <a:spcPts val="2307"/>
              </a:lnSpc>
            </a:pPr>
            <a:r>
              <a:rPr lang="en-US" sz="2307" spc="-138">
                <a:solidFill>
                  <a:srgbClr val="FFFFFF"/>
                </a:solidFill>
                <a:latin typeface="Bricolage Grotesque"/>
                <a:ea typeface="Bricolage Grotesque"/>
                <a:cs typeface="Bricolage Grotesque"/>
                <a:sym typeface="Bricolage Grotesque"/>
              </a:rPr>
              <a:t>           Go to EXIT_GATE_OPEN</a:t>
            </a:r>
          </a:p>
          <a:p>
            <a:pPr algn="l">
              <a:lnSpc>
                <a:spcPts val="2307"/>
              </a:lnSpc>
            </a:pPr>
            <a:r>
              <a:rPr lang="en-US" sz="2307" spc="-138">
                <a:solidFill>
                  <a:srgbClr val="FFFFFF"/>
                </a:solidFill>
                <a:latin typeface="Bricolage Grotesque"/>
                <a:ea typeface="Bricolage Grotesque"/>
                <a:cs typeface="Bricolage Grotesque"/>
                <a:sym typeface="Bricolage Grotesque"/>
              </a:rPr>
              <a:t>   EXIT_GATE_OPEN:</a:t>
            </a:r>
          </a:p>
          <a:p>
            <a:pPr algn="l">
              <a:lnSpc>
                <a:spcPts val="2307"/>
              </a:lnSpc>
            </a:pPr>
            <a:r>
              <a:rPr lang="en-US" sz="2307" spc="-138">
                <a:solidFill>
                  <a:srgbClr val="FFFFFF"/>
                </a:solidFill>
                <a:latin typeface="Bricolage Grotesque"/>
                <a:ea typeface="Bricolage Grotesque"/>
                <a:cs typeface="Bricolage Grotesque"/>
                <a:sym typeface="Bricolage Grotesque"/>
              </a:rPr>
              <a:t>       Open exit gate</a:t>
            </a:r>
          </a:p>
          <a:p>
            <a:pPr algn="l">
              <a:lnSpc>
                <a:spcPts val="2507"/>
              </a:lnSpc>
            </a:pPr>
            <a:r>
              <a:rPr lang="en-US" sz="2507" spc="-150">
                <a:solidFill>
                  <a:srgbClr val="FFFFFF"/>
                </a:solidFill>
                <a:latin typeface="Bricolage Grotesque"/>
                <a:ea typeface="Bricolage Grotesque"/>
                <a:cs typeface="Bricolage Grotesque"/>
                <a:sym typeface="Bricolage Grotesque"/>
              </a:rPr>
              <a:t>       Go to IDLE</a:t>
            </a:r>
          </a:p>
          <a:p>
            <a:pPr algn="l">
              <a:lnSpc>
                <a:spcPts val="2507"/>
              </a:lnSpc>
              <a:spcBef>
                <a:spcPct val="0"/>
              </a:spcBef>
            </a:pPr>
            <a:r>
              <a:rPr lang="en-US" sz="2507" spc="-150">
                <a:solidFill>
                  <a:srgbClr val="FFFFFF"/>
                </a:solidFill>
                <a:latin typeface="Bricolage Grotesque"/>
                <a:ea typeface="Bricolage Grotesque"/>
                <a:cs typeface="Bricolage Grotesque"/>
                <a:sym typeface="Bricolage Grotesque"/>
              </a:rPr>
              <a:t>END LOOP</a:t>
            </a:r>
          </a:p>
        </p:txBody>
      </p:sp>
      <p:sp>
        <p:nvSpPr>
          <p:cNvPr name="TextBox 4" id="4"/>
          <p:cNvSpPr txBox="true"/>
          <p:nvPr/>
        </p:nvSpPr>
        <p:spPr>
          <a:xfrm rot="0">
            <a:off x="1028700" y="2052995"/>
            <a:ext cx="7434721" cy="5159292"/>
          </a:xfrm>
          <a:prstGeom prst="rect">
            <a:avLst/>
          </a:prstGeom>
        </p:spPr>
        <p:txBody>
          <a:bodyPr anchor="t" rtlCol="false" tIns="0" lIns="0" bIns="0" rIns="0">
            <a:spAutoFit/>
          </a:bodyPr>
          <a:lstStyle/>
          <a:p>
            <a:pPr algn="just">
              <a:lnSpc>
                <a:spcPts val="2499"/>
              </a:lnSpc>
            </a:pPr>
            <a:r>
              <a:rPr lang="en-US" b="true" sz="2499" spc="-149">
                <a:solidFill>
                  <a:srgbClr val="FFFFFF"/>
                </a:solidFill>
                <a:latin typeface="Bricolage Grotesque Bold"/>
                <a:ea typeface="Bricolage Grotesque Bold"/>
                <a:cs typeface="Bricolage Grotesque Bold"/>
                <a:sym typeface="Bricolage Grotesque Bold"/>
              </a:rPr>
              <a:t>Key Responsibilities</a:t>
            </a:r>
          </a:p>
          <a:p>
            <a:pPr algn="just">
              <a:lnSpc>
                <a:spcPts val="2499"/>
              </a:lnSpc>
            </a:pP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When a car arrives, it tells the slot manager to allocate a slot.</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Then it opens the entry gate.</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When a car wants to exit, it asks the billing module to calculate the fee.</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It waits until payment is received.</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After payment, it tells the slot manager to free the slot.</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Then it opens the exit gate.</a:t>
            </a:r>
          </a:p>
          <a:p>
            <a:pPr algn="just">
              <a:lnSpc>
                <a:spcPts val="249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028700" y="637519"/>
            <a:ext cx="8186440" cy="906187"/>
          </a:xfrm>
          <a:prstGeom prst="rect">
            <a:avLst/>
          </a:prstGeom>
        </p:spPr>
        <p:txBody>
          <a:bodyPr anchor="t" rtlCol="false" tIns="0" lIns="0" bIns="0" rIns="0">
            <a:spAutoFit/>
          </a:bodyPr>
          <a:lstStyle/>
          <a:p>
            <a:pPr algn="ctr">
              <a:lnSpc>
                <a:spcPts val="6801"/>
              </a:lnSpc>
              <a:spcBef>
                <a:spcPct val="0"/>
              </a:spcBef>
            </a:pPr>
            <a:r>
              <a:rPr lang="en-US" b="true" sz="6801" spc="-408">
                <a:solidFill>
                  <a:srgbClr val="FCA311"/>
                </a:solidFill>
                <a:latin typeface="Bricolage Grotesque Semi-Bold"/>
                <a:ea typeface="Bricolage Grotesque Semi-Bold"/>
                <a:cs typeface="Bricolage Grotesque Semi-Bold"/>
                <a:sym typeface="Bricolage Grotesque Semi-Bold"/>
              </a:rPr>
              <a:t>Module: spot manager</a:t>
            </a:r>
          </a:p>
        </p:txBody>
      </p:sp>
      <p:sp>
        <p:nvSpPr>
          <p:cNvPr name="TextBox 3" id="3"/>
          <p:cNvSpPr txBox="true"/>
          <p:nvPr/>
        </p:nvSpPr>
        <p:spPr>
          <a:xfrm rot="0">
            <a:off x="10089143" y="2587965"/>
            <a:ext cx="7292622" cy="7895690"/>
          </a:xfrm>
          <a:prstGeom prst="rect">
            <a:avLst/>
          </a:prstGeom>
        </p:spPr>
        <p:txBody>
          <a:bodyPr anchor="t" rtlCol="false" tIns="0" lIns="0" bIns="0" rIns="0">
            <a:spAutoFit/>
          </a:bodyPr>
          <a:lstStyle/>
          <a:p>
            <a:pPr algn="l">
              <a:lnSpc>
                <a:spcPts val="2507"/>
              </a:lnSpc>
            </a:pPr>
          </a:p>
          <a:p>
            <a:pPr algn="l">
              <a:lnSpc>
                <a:spcPts val="2507"/>
              </a:lnSpc>
            </a:pPr>
            <a:r>
              <a:rPr lang="en-US" sz="2507" spc="-150" b="true">
                <a:solidFill>
                  <a:srgbClr val="FFFFFF"/>
                </a:solidFill>
                <a:latin typeface="Bricolage Grotesque Bold"/>
                <a:ea typeface="Bricolage Grotesque Bold"/>
                <a:cs typeface="Bricolage Grotesque Bold"/>
                <a:sym typeface="Bricolage Grotesque Bold"/>
              </a:rPr>
              <a:t>PSEUDOCODE:</a:t>
            </a:r>
          </a:p>
          <a:p>
            <a:pPr algn="l">
              <a:lnSpc>
                <a:spcPts val="2360"/>
              </a:lnSpc>
            </a:pPr>
            <a:r>
              <a:rPr lang="en-US" sz="2360" spc="-141">
                <a:solidFill>
                  <a:srgbClr val="FFFFFF"/>
                </a:solidFill>
                <a:latin typeface="Bricolage Grotesque"/>
                <a:ea typeface="Bricolage Grotesque"/>
                <a:cs typeface="Bricolage Grotesque"/>
                <a:sym typeface="Bricolage Grotesque"/>
              </a:rPr>
              <a:t>ON RESET:</a:t>
            </a:r>
          </a:p>
          <a:p>
            <a:pPr algn="l">
              <a:lnSpc>
                <a:spcPts val="2360"/>
              </a:lnSpc>
            </a:pPr>
            <a:r>
              <a:rPr lang="en-US" sz="2360" spc="-141">
                <a:solidFill>
                  <a:srgbClr val="FFFFFF"/>
                </a:solidFill>
                <a:latin typeface="Bricolage Grotesque"/>
                <a:ea typeface="Bricolage Grotesque"/>
                <a:cs typeface="Bricolage Grotesque"/>
                <a:sym typeface="Bricolage Grotesque"/>
              </a:rPr>
              <a:t>   occupancy = 0000 (all empty)</a:t>
            </a:r>
          </a:p>
          <a:p>
            <a:pPr algn="l">
              <a:lnSpc>
                <a:spcPts val="2360"/>
              </a:lnSpc>
            </a:pPr>
            <a:r>
              <a:rPr lang="en-US" sz="2360" spc="-141">
                <a:solidFill>
                  <a:srgbClr val="FFFFFF"/>
                </a:solidFill>
                <a:latin typeface="Bricolage Grotesque"/>
                <a:ea typeface="Bricolage Grotesque"/>
                <a:cs typeface="Bricolage Grotesque"/>
                <a:sym typeface="Bricolage Grotesque"/>
              </a:rPr>
              <a:t>   free_count = 4</a:t>
            </a:r>
          </a:p>
          <a:p>
            <a:pPr algn="l">
              <a:lnSpc>
                <a:spcPts val="2360"/>
              </a:lnSpc>
            </a:pPr>
            <a:r>
              <a:rPr lang="en-US" sz="2360" spc="-141">
                <a:solidFill>
                  <a:srgbClr val="FFFFFF"/>
                </a:solidFill>
                <a:latin typeface="Bricolage Grotesque"/>
                <a:ea typeface="Bricolage Grotesque"/>
                <a:cs typeface="Bricolage Grotesque"/>
                <a:sym typeface="Bricolage Grotesque"/>
              </a:rPr>
              <a:t>   slot_available = TRUE</a:t>
            </a:r>
          </a:p>
          <a:p>
            <a:pPr algn="l">
              <a:lnSpc>
                <a:spcPts val="2360"/>
              </a:lnSpc>
            </a:pPr>
          </a:p>
          <a:p>
            <a:pPr algn="l">
              <a:lnSpc>
                <a:spcPts val="2360"/>
              </a:lnSpc>
            </a:pPr>
            <a:r>
              <a:rPr lang="en-US" sz="2360" spc="-141">
                <a:solidFill>
                  <a:srgbClr val="FFFFFF"/>
                </a:solidFill>
                <a:latin typeface="Bricolage Grotesque"/>
                <a:ea typeface="Bricolage Grotesque"/>
                <a:cs typeface="Bricolage Grotesque"/>
                <a:sym typeface="Bricolage Grotesque"/>
              </a:rPr>
              <a:t>LOOP every clock:</a:t>
            </a:r>
          </a:p>
          <a:p>
            <a:pPr algn="l">
              <a:lnSpc>
                <a:spcPts val="2360"/>
              </a:lnSpc>
            </a:pPr>
            <a:r>
              <a:rPr lang="en-US" sz="2360" spc="-141">
                <a:solidFill>
                  <a:srgbClr val="FFFFFF"/>
                </a:solidFill>
                <a:latin typeface="Bricolage Grotesque"/>
                <a:ea typeface="Bricolage Grotesque"/>
                <a:cs typeface="Bricolage Grotesque"/>
                <a:sym typeface="Bricolage Grotesque"/>
              </a:rPr>
              <a:t>   IF free_req:</a:t>
            </a:r>
          </a:p>
          <a:p>
            <a:pPr algn="l">
              <a:lnSpc>
                <a:spcPts val="2360"/>
              </a:lnSpc>
            </a:pPr>
            <a:r>
              <a:rPr lang="en-US" sz="2360" spc="-141">
                <a:solidFill>
                  <a:srgbClr val="FFFFFF"/>
                </a:solidFill>
                <a:latin typeface="Bricolage Grotesque"/>
                <a:ea typeface="Bricolage Grotesque"/>
                <a:cs typeface="Bricolage Grotesque"/>
                <a:sym typeface="Bricolage Grotesque"/>
              </a:rPr>
              <a:t>       If selected exit slot is occupied:</a:t>
            </a:r>
          </a:p>
          <a:p>
            <a:pPr algn="l">
              <a:lnSpc>
                <a:spcPts val="2360"/>
              </a:lnSpc>
            </a:pPr>
            <a:r>
              <a:rPr lang="en-US" sz="2360" spc="-141">
                <a:solidFill>
                  <a:srgbClr val="FFFFFF"/>
                </a:solidFill>
                <a:latin typeface="Bricolage Grotesque"/>
                <a:ea typeface="Bricolage Grotesque"/>
                <a:cs typeface="Bricolage Grotesque"/>
                <a:sym typeface="Bricolage Grotesque"/>
              </a:rPr>
              <a:t>           Clear that slot</a:t>
            </a:r>
          </a:p>
          <a:p>
            <a:pPr algn="l">
              <a:lnSpc>
                <a:spcPts val="2360"/>
              </a:lnSpc>
            </a:pPr>
            <a:r>
              <a:rPr lang="en-US" sz="2360" spc="-141">
                <a:solidFill>
                  <a:srgbClr val="FFFFFF"/>
                </a:solidFill>
                <a:latin typeface="Bricolage Grotesque"/>
                <a:ea typeface="Bricolage Grotesque"/>
                <a:cs typeface="Bricolage Grotesque"/>
                <a:sym typeface="Bricolage Grotesque"/>
              </a:rPr>
              <a:t>       Else:</a:t>
            </a:r>
          </a:p>
          <a:p>
            <a:pPr algn="l">
              <a:lnSpc>
                <a:spcPts val="2360"/>
              </a:lnSpc>
            </a:pPr>
            <a:r>
              <a:rPr lang="en-US" sz="2360" spc="-141">
                <a:solidFill>
                  <a:srgbClr val="FFFFFF"/>
                </a:solidFill>
                <a:latin typeface="Bricolage Grotesque"/>
                <a:ea typeface="Bricolage Grotesque"/>
                <a:cs typeface="Bricolage Grotesque"/>
                <a:sym typeface="Bricolage Grotesque"/>
              </a:rPr>
              <a:t>           Find the first occupied slot</a:t>
            </a:r>
          </a:p>
          <a:p>
            <a:pPr algn="l">
              <a:lnSpc>
                <a:spcPts val="2360"/>
              </a:lnSpc>
            </a:pPr>
            <a:r>
              <a:rPr lang="en-US" sz="2360" spc="-141">
                <a:solidFill>
                  <a:srgbClr val="FFFFFF"/>
                </a:solidFill>
                <a:latin typeface="Bricolage Grotesque"/>
                <a:ea typeface="Bricolage Grotesque"/>
                <a:cs typeface="Bricolage Grotesque"/>
                <a:sym typeface="Bricolage Grotesque"/>
              </a:rPr>
              <a:t>           Clear it</a:t>
            </a:r>
          </a:p>
          <a:p>
            <a:pPr algn="l">
              <a:lnSpc>
                <a:spcPts val="2360"/>
              </a:lnSpc>
            </a:pPr>
            <a:r>
              <a:rPr lang="en-US" sz="2360" spc="-141">
                <a:solidFill>
                  <a:srgbClr val="FFFFFF"/>
                </a:solidFill>
                <a:latin typeface="Bricolage Grotesque"/>
                <a:ea typeface="Bricolage Grotesque"/>
                <a:cs typeface="Bricolage Grotesque"/>
                <a:sym typeface="Bricolage Grotesque"/>
              </a:rPr>
              <a:t>       free_count++</a:t>
            </a:r>
          </a:p>
          <a:p>
            <a:pPr algn="l">
              <a:lnSpc>
                <a:spcPts val="2360"/>
              </a:lnSpc>
            </a:pPr>
          </a:p>
          <a:p>
            <a:pPr algn="l">
              <a:lnSpc>
                <a:spcPts val="2360"/>
              </a:lnSpc>
            </a:pPr>
            <a:r>
              <a:rPr lang="en-US" sz="2360" spc="-141">
                <a:solidFill>
                  <a:srgbClr val="FFFFFF"/>
                </a:solidFill>
                <a:latin typeface="Bricolage Grotesque"/>
                <a:ea typeface="Bricolage Grotesque"/>
                <a:cs typeface="Bricolage Grotesque"/>
                <a:sym typeface="Bricolage Grotesque"/>
              </a:rPr>
              <a:t>   IF alloc_req AND free_count &gt; 0:</a:t>
            </a:r>
          </a:p>
          <a:p>
            <a:pPr algn="l">
              <a:lnSpc>
                <a:spcPts val="2360"/>
              </a:lnSpc>
            </a:pPr>
            <a:r>
              <a:rPr lang="en-US" sz="2360" spc="-141">
                <a:solidFill>
                  <a:srgbClr val="FFFFFF"/>
                </a:solidFill>
                <a:latin typeface="Bricolage Grotesque"/>
                <a:ea typeface="Bricolage Grotesque"/>
                <a:cs typeface="Bricolage Grotesque"/>
                <a:sym typeface="Bricolage Grotesque"/>
              </a:rPr>
              <a:t>       Find first empty slot</a:t>
            </a:r>
          </a:p>
          <a:p>
            <a:pPr algn="l">
              <a:lnSpc>
                <a:spcPts val="2360"/>
              </a:lnSpc>
            </a:pPr>
            <a:r>
              <a:rPr lang="en-US" sz="2360" spc="-141">
                <a:solidFill>
                  <a:srgbClr val="FFFFFF"/>
                </a:solidFill>
                <a:latin typeface="Bricolage Grotesque"/>
                <a:ea typeface="Bricolage Grotesque"/>
                <a:cs typeface="Bricolage Grotesque"/>
                <a:sym typeface="Bricolage Grotesque"/>
              </a:rPr>
              <a:t>       Mark it occupied</a:t>
            </a:r>
          </a:p>
          <a:p>
            <a:pPr algn="l">
              <a:lnSpc>
                <a:spcPts val="2360"/>
              </a:lnSpc>
            </a:pPr>
            <a:r>
              <a:rPr lang="en-US" sz="2360" spc="-141">
                <a:solidFill>
                  <a:srgbClr val="FFFFFF"/>
                </a:solidFill>
                <a:latin typeface="Bricolage Grotesque"/>
                <a:ea typeface="Bricolage Grotesque"/>
                <a:cs typeface="Bricolage Grotesque"/>
                <a:sym typeface="Bricolage Grotesque"/>
              </a:rPr>
              <a:t>       allocated_slot = that slot</a:t>
            </a:r>
          </a:p>
          <a:p>
            <a:pPr algn="l">
              <a:lnSpc>
                <a:spcPts val="2360"/>
              </a:lnSpc>
            </a:pPr>
            <a:r>
              <a:rPr lang="en-US" sz="2360" spc="-141">
                <a:solidFill>
                  <a:srgbClr val="FFFFFF"/>
                </a:solidFill>
                <a:latin typeface="Bricolage Grotesque"/>
                <a:ea typeface="Bricolage Grotesque"/>
                <a:cs typeface="Bricolage Grotesque"/>
                <a:sym typeface="Bricolage Grotesque"/>
              </a:rPr>
              <a:t>       free_count--</a:t>
            </a:r>
          </a:p>
          <a:p>
            <a:pPr algn="l">
              <a:lnSpc>
                <a:spcPts val="2360"/>
              </a:lnSpc>
            </a:pPr>
          </a:p>
          <a:p>
            <a:pPr algn="l">
              <a:lnSpc>
                <a:spcPts val="2360"/>
              </a:lnSpc>
            </a:pPr>
            <a:r>
              <a:rPr lang="en-US" sz="2360" spc="-141">
                <a:solidFill>
                  <a:srgbClr val="FFFFFF"/>
                </a:solidFill>
                <a:latin typeface="Bricolage Grotesque"/>
                <a:ea typeface="Bricolage Grotesque"/>
                <a:cs typeface="Bricolage Grotesque"/>
                <a:sym typeface="Bricolage Grotesque"/>
              </a:rPr>
              <a:t>   Update slot_available = (free_count &gt; 0)</a:t>
            </a:r>
          </a:p>
          <a:p>
            <a:pPr algn="l">
              <a:lnSpc>
                <a:spcPts val="2360"/>
              </a:lnSpc>
            </a:pPr>
            <a:r>
              <a:rPr lang="en-US" sz="2360" spc="-141">
                <a:solidFill>
                  <a:srgbClr val="FFFFFF"/>
                </a:solidFill>
                <a:latin typeface="Bricolage Grotesque"/>
                <a:ea typeface="Bricolage Grotesque"/>
                <a:cs typeface="Bricolage Grotesque"/>
                <a:sym typeface="Bricolage Grotesque"/>
              </a:rPr>
              <a:t>END LOOP</a:t>
            </a:r>
          </a:p>
          <a:p>
            <a:pPr algn="l">
              <a:lnSpc>
                <a:spcPts val="2605"/>
              </a:lnSpc>
              <a:spcBef>
                <a:spcPct val="0"/>
              </a:spcBef>
            </a:pPr>
          </a:p>
          <a:p>
            <a:pPr algn="l">
              <a:lnSpc>
                <a:spcPts val="2605"/>
              </a:lnSpc>
              <a:spcBef>
                <a:spcPct val="0"/>
              </a:spcBef>
            </a:pPr>
          </a:p>
        </p:txBody>
      </p:sp>
      <p:sp>
        <p:nvSpPr>
          <p:cNvPr name="TextBox 4" id="4"/>
          <p:cNvSpPr txBox="true"/>
          <p:nvPr/>
        </p:nvSpPr>
        <p:spPr>
          <a:xfrm rot="0">
            <a:off x="1028700" y="1905340"/>
            <a:ext cx="16230600" cy="644525"/>
          </a:xfrm>
          <a:prstGeom prst="rect">
            <a:avLst/>
          </a:prstGeom>
        </p:spPr>
        <p:txBody>
          <a:bodyPr anchor="t" rtlCol="false" tIns="0" lIns="0" bIns="0" rIns="0">
            <a:spAutoFit/>
          </a:bodyPr>
          <a:lstStyle/>
          <a:p>
            <a:pPr algn="l">
              <a:lnSpc>
                <a:spcPts val="2499"/>
              </a:lnSpc>
            </a:pPr>
            <a:r>
              <a:rPr lang="en-US" sz="2499" spc="-149">
                <a:solidFill>
                  <a:srgbClr val="FFFFFF"/>
                </a:solidFill>
                <a:latin typeface="Bricolage Grotesque"/>
                <a:ea typeface="Bricolage Grotesque"/>
                <a:cs typeface="Bricolage Grotesque"/>
                <a:sym typeface="Bricolage Grotesque"/>
              </a:rPr>
              <a:t>The Spot Manager module maintains and updates the status of 4 parking spots. </a:t>
            </a: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It handles allocation and freeing of spots, and keeps track of occupancy in real time.</a:t>
            </a:r>
          </a:p>
        </p:txBody>
      </p:sp>
      <p:sp>
        <p:nvSpPr>
          <p:cNvPr name="TextBox 5" id="5"/>
          <p:cNvSpPr txBox="true"/>
          <p:nvPr/>
        </p:nvSpPr>
        <p:spPr>
          <a:xfrm rot="0">
            <a:off x="1028700" y="2911815"/>
            <a:ext cx="6853011" cy="5159292"/>
          </a:xfrm>
          <a:prstGeom prst="rect">
            <a:avLst/>
          </a:prstGeom>
        </p:spPr>
        <p:txBody>
          <a:bodyPr anchor="t" rtlCol="false" tIns="0" lIns="0" bIns="0" rIns="0">
            <a:spAutoFit/>
          </a:bodyPr>
          <a:lstStyle/>
          <a:p>
            <a:pPr algn="just">
              <a:lnSpc>
                <a:spcPts val="2499"/>
              </a:lnSpc>
            </a:pPr>
            <a:r>
              <a:rPr lang="en-US" b="true" sz="2499" spc="-149">
                <a:solidFill>
                  <a:srgbClr val="FFFFFF"/>
                </a:solidFill>
                <a:latin typeface="Bricolage Grotesque Bold"/>
                <a:ea typeface="Bricolage Grotesque Bold"/>
                <a:cs typeface="Bricolage Grotesque Bold"/>
                <a:sym typeface="Bricolage Grotesque Bold"/>
              </a:rPr>
              <a:t>Key Responsibilities</a:t>
            </a:r>
          </a:p>
          <a:p>
            <a:pPr algn="just">
              <a:lnSpc>
                <a:spcPts val="2499"/>
              </a:lnSpc>
            </a:pP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Tracks real-time slot occupancy (empty/occupied status).</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Allocates the first available parking slot during entry.</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Frees the correct slot during exit (with fallback if wrong slot selected).</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Updates free slot count and availability signal.</a:t>
            </a:r>
          </a:p>
          <a:p>
            <a:pPr algn="just" marL="539749" indent="-269875" lvl="1">
              <a:lnSpc>
                <a:spcPts val="3749"/>
              </a:lnSpc>
              <a:buFont typeface="Arial"/>
              <a:buChar char="•"/>
            </a:pPr>
            <a:r>
              <a:rPr lang="en-US" sz="2499" spc="-149">
                <a:solidFill>
                  <a:srgbClr val="FFFFFF"/>
                </a:solidFill>
                <a:latin typeface="Bricolage Grotesque"/>
                <a:ea typeface="Bricolage Grotesque"/>
                <a:cs typeface="Bricolage Grotesque"/>
                <a:sym typeface="Bricolage Grotesque"/>
              </a:rPr>
              <a:t>Communicates allocated and released slot IDs to billing and control modules.</a:t>
            </a:r>
          </a:p>
          <a:p>
            <a:pPr algn="just">
              <a:lnSpc>
                <a:spcPts val="2493"/>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sp>
        <p:nvSpPr>
          <p:cNvPr name="Freeform 2" id="2"/>
          <p:cNvSpPr/>
          <p:nvPr/>
        </p:nvSpPr>
        <p:spPr>
          <a:xfrm flipH="false" flipV="false" rot="0">
            <a:off x="2107862" y="6327849"/>
            <a:ext cx="6356958" cy="3647412"/>
          </a:xfrm>
          <a:custGeom>
            <a:avLst/>
            <a:gdLst/>
            <a:ahLst/>
            <a:cxnLst/>
            <a:rect r="r" b="b" t="t" l="l"/>
            <a:pathLst>
              <a:path h="3647412" w="6356958">
                <a:moveTo>
                  <a:pt x="0" y="0"/>
                </a:moveTo>
                <a:lnTo>
                  <a:pt x="6356958" y="0"/>
                </a:lnTo>
                <a:lnTo>
                  <a:pt x="6356958" y="3647412"/>
                </a:lnTo>
                <a:lnTo>
                  <a:pt x="0" y="3647412"/>
                </a:lnTo>
                <a:lnTo>
                  <a:pt x="0" y="0"/>
                </a:lnTo>
                <a:close/>
              </a:path>
            </a:pathLst>
          </a:custGeom>
          <a:blipFill>
            <a:blip r:embed="rId2"/>
            <a:stretch>
              <a:fillRect l="0" t="-52042" r="0" b="-22244"/>
            </a:stretch>
          </a:blipFill>
        </p:spPr>
      </p:sp>
      <p:sp>
        <p:nvSpPr>
          <p:cNvPr name="TextBox 3" id="3"/>
          <p:cNvSpPr txBox="true"/>
          <p:nvPr/>
        </p:nvSpPr>
        <p:spPr>
          <a:xfrm rot="0">
            <a:off x="1028700" y="637519"/>
            <a:ext cx="11011597" cy="906187"/>
          </a:xfrm>
          <a:prstGeom prst="rect">
            <a:avLst/>
          </a:prstGeom>
        </p:spPr>
        <p:txBody>
          <a:bodyPr anchor="t" rtlCol="false" tIns="0" lIns="0" bIns="0" rIns="0">
            <a:spAutoFit/>
          </a:bodyPr>
          <a:lstStyle/>
          <a:p>
            <a:pPr algn="ctr">
              <a:lnSpc>
                <a:spcPts val="6801"/>
              </a:lnSpc>
              <a:spcBef>
                <a:spcPct val="0"/>
              </a:spcBef>
            </a:pPr>
            <a:r>
              <a:rPr lang="en-US" b="true" sz="6801" spc="-408">
                <a:solidFill>
                  <a:srgbClr val="FCA311"/>
                </a:solidFill>
                <a:latin typeface="Bricolage Grotesque Semi-Bold"/>
                <a:ea typeface="Bricolage Grotesque Semi-Bold"/>
                <a:cs typeface="Bricolage Grotesque Semi-Bold"/>
                <a:sym typeface="Bricolage Grotesque Semi-Bold"/>
              </a:rPr>
              <a:t>Module: timer &amp; billing module</a:t>
            </a:r>
          </a:p>
        </p:txBody>
      </p:sp>
      <p:sp>
        <p:nvSpPr>
          <p:cNvPr name="TextBox 4" id="4"/>
          <p:cNvSpPr txBox="true"/>
          <p:nvPr/>
        </p:nvSpPr>
        <p:spPr>
          <a:xfrm rot="0">
            <a:off x="1028700" y="1981881"/>
            <a:ext cx="16230600" cy="958850"/>
          </a:xfrm>
          <a:prstGeom prst="rect">
            <a:avLst/>
          </a:prstGeom>
        </p:spPr>
        <p:txBody>
          <a:bodyPr anchor="t" rtlCol="false" tIns="0" lIns="0" bIns="0" rIns="0">
            <a:spAutoFit/>
          </a:bodyPr>
          <a:lstStyle/>
          <a:p>
            <a:pPr algn="just">
              <a:lnSpc>
                <a:spcPts val="2499"/>
              </a:lnSpc>
            </a:pPr>
            <a:r>
              <a:rPr lang="en-US" sz="2499" spc="-149">
                <a:solidFill>
                  <a:srgbClr val="FFFFFF"/>
                </a:solidFill>
                <a:latin typeface="Bricolage Grotesque"/>
                <a:ea typeface="Bricolage Grotesque"/>
                <a:cs typeface="Bricolage Grotesque"/>
                <a:sym typeface="Bricolage Grotesque"/>
              </a:rPr>
              <a:t>This module counts parking time for each slot and calculates the final cost when a vehicle exits. It ensures precise and automated billing based on parking duration.</a:t>
            </a:r>
          </a:p>
          <a:p>
            <a:pPr algn="just">
              <a:lnSpc>
                <a:spcPts val="2499"/>
              </a:lnSpc>
              <a:spcBef>
                <a:spcPct val="0"/>
              </a:spcBef>
            </a:pPr>
          </a:p>
        </p:txBody>
      </p:sp>
      <p:sp>
        <p:nvSpPr>
          <p:cNvPr name="TextBox 5" id="5"/>
          <p:cNvSpPr txBox="true"/>
          <p:nvPr/>
        </p:nvSpPr>
        <p:spPr>
          <a:xfrm rot="0">
            <a:off x="1028700" y="3045506"/>
            <a:ext cx="8294821" cy="3473450"/>
          </a:xfrm>
          <a:prstGeom prst="rect">
            <a:avLst/>
          </a:prstGeom>
        </p:spPr>
        <p:txBody>
          <a:bodyPr anchor="t" rtlCol="false" tIns="0" lIns="0" bIns="0" rIns="0">
            <a:spAutoFit/>
          </a:bodyPr>
          <a:lstStyle/>
          <a:p>
            <a:pPr algn="l">
              <a:lnSpc>
                <a:spcPts val="2499"/>
              </a:lnSpc>
            </a:pPr>
            <a:r>
              <a:rPr lang="en-US" sz="2499" spc="-149" b="true">
                <a:solidFill>
                  <a:srgbClr val="FFFFFF"/>
                </a:solidFill>
                <a:latin typeface="Bricolage Grotesque Bold"/>
                <a:ea typeface="Bricolage Grotesque Bold"/>
                <a:cs typeface="Bricolage Grotesque Bold"/>
                <a:sym typeface="Bricolage Grotesque Bold"/>
              </a:rPr>
              <a:t>Key Responsibilities</a:t>
            </a:r>
          </a:p>
          <a:p>
            <a:pPr algn="l">
              <a:lnSpc>
                <a:spcPts val="2499"/>
              </a:lnSpc>
            </a:pP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Tracks parking duration independently for each occupied slot.</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Starts and stops timers based on slot occupancy status.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Calculates final parking fee when an exit request is confirmed.</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Outputs correct billing amount to the FSM for payment processing.</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Resets the timer for a slot once the vehicle exits.</a:t>
            </a:r>
          </a:p>
          <a:p>
            <a:pPr algn="l">
              <a:lnSpc>
                <a:spcPts val="2499"/>
              </a:lnSpc>
            </a:pPr>
          </a:p>
        </p:txBody>
      </p:sp>
      <p:sp>
        <p:nvSpPr>
          <p:cNvPr name="TextBox 6" id="6"/>
          <p:cNvSpPr txBox="true"/>
          <p:nvPr/>
        </p:nvSpPr>
        <p:spPr>
          <a:xfrm rot="0">
            <a:off x="10750519" y="3035981"/>
            <a:ext cx="5687467" cy="7195185"/>
          </a:xfrm>
          <a:prstGeom prst="rect">
            <a:avLst/>
          </a:prstGeom>
        </p:spPr>
        <p:txBody>
          <a:bodyPr anchor="t" rtlCol="false" tIns="0" lIns="0" bIns="0" rIns="0">
            <a:spAutoFit/>
          </a:bodyPr>
          <a:lstStyle/>
          <a:p>
            <a:pPr algn="just">
              <a:lnSpc>
                <a:spcPts val="2300"/>
              </a:lnSpc>
            </a:pPr>
            <a:r>
              <a:rPr lang="en-US" b="true" sz="2300" spc="-138">
                <a:solidFill>
                  <a:srgbClr val="FFFFFF"/>
                </a:solidFill>
                <a:latin typeface="Bricolage Grotesque Bold"/>
                <a:ea typeface="Bricolage Grotesque Bold"/>
                <a:cs typeface="Bricolage Grotesque Bold"/>
                <a:sym typeface="Bricolage Grotesque Bold"/>
              </a:rPr>
              <a:t>PSEUDOCODE:</a:t>
            </a:r>
          </a:p>
          <a:p>
            <a:pPr algn="just">
              <a:lnSpc>
                <a:spcPts val="2300"/>
              </a:lnSpc>
            </a:pPr>
            <a:r>
              <a:rPr lang="en-US" sz="2300" spc="-138">
                <a:solidFill>
                  <a:srgbClr val="FFFFFF"/>
                </a:solidFill>
                <a:latin typeface="Bricolage Grotesque"/>
                <a:ea typeface="Bricolage Grotesque"/>
                <a:cs typeface="Bricolage Grotesque"/>
                <a:sym typeface="Bricolage Grotesque"/>
              </a:rPr>
              <a:t>ON RESET:</a:t>
            </a:r>
          </a:p>
          <a:p>
            <a:pPr algn="just">
              <a:lnSpc>
                <a:spcPts val="2300"/>
              </a:lnSpc>
            </a:pPr>
            <a:r>
              <a:rPr lang="en-US" sz="2300" spc="-138">
                <a:solidFill>
                  <a:srgbClr val="FFFFFF"/>
                </a:solidFill>
                <a:latin typeface="Bricolage Grotesque"/>
                <a:ea typeface="Bricolage Grotesque"/>
                <a:cs typeface="Bricolage Grotesque"/>
                <a:sym typeface="Bricolage Grotesque"/>
              </a:rPr>
              <a:t>   timers for all 4 slots = 0</a:t>
            </a:r>
          </a:p>
          <a:p>
            <a:pPr algn="just">
              <a:lnSpc>
                <a:spcPts val="2300"/>
              </a:lnSpc>
            </a:pPr>
            <a:r>
              <a:rPr lang="en-US" sz="2300" spc="-138">
                <a:solidFill>
                  <a:srgbClr val="FFFFFF"/>
                </a:solidFill>
                <a:latin typeface="Bricolage Grotesque"/>
                <a:ea typeface="Bricolage Grotesque"/>
                <a:cs typeface="Bricolage Grotesque"/>
                <a:sym typeface="Bricolage Grotesque"/>
              </a:rPr>
              <a:t>   running_flags = 0</a:t>
            </a:r>
          </a:p>
          <a:p>
            <a:pPr algn="just">
              <a:lnSpc>
                <a:spcPts val="2300"/>
              </a:lnSpc>
            </a:pPr>
            <a:r>
              <a:rPr lang="en-US" sz="2300" spc="-138">
                <a:solidFill>
                  <a:srgbClr val="FFFFFF"/>
                </a:solidFill>
                <a:latin typeface="Bricolage Grotesque"/>
                <a:ea typeface="Bricolage Grotesque"/>
                <a:cs typeface="Bricolage Grotesque"/>
                <a:sym typeface="Bricolage Grotesque"/>
              </a:rPr>
              <a:t>   fee = 0</a:t>
            </a:r>
          </a:p>
          <a:p>
            <a:pPr algn="just">
              <a:lnSpc>
                <a:spcPts val="2300"/>
              </a:lnSpc>
            </a:pPr>
          </a:p>
          <a:p>
            <a:pPr algn="just">
              <a:lnSpc>
                <a:spcPts val="2300"/>
              </a:lnSpc>
            </a:pPr>
            <a:r>
              <a:rPr lang="en-US" sz="2300" spc="-138">
                <a:solidFill>
                  <a:srgbClr val="FFFFFF"/>
                </a:solidFill>
                <a:latin typeface="Bricolage Grotesque"/>
                <a:ea typeface="Bricolage Grotesque"/>
                <a:cs typeface="Bricolage Grotesque"/>
                <a:sym typeface="Bricolage Grotesque"/>
              </a:rPr>
              <a:t>EVERY CLOCK:</a:t>
            </a:r>
          </a:p>
          <a:p>
            <a:pPr algn="just">
              <a:lnSpc>
                <a:spcPts val="2300"/>
              </a:lnSpc>
            </a:pPr>
          </a:p>
          <a:p>
            <a:pPr algn="just">
              <a:lnSpc>
                <a:spcPts val="2300"/>
              </a:lnSpc>
            </a:pPr>
            <a:r>
              <a:rPr lang="en-US" sz="2300" spc="-138">
                <a:solidFill>
                  <a:srgbClr val="FFFFFF"/>
                </a:solidFill>
                <a:latin typeface="Bricolage Grotesque"/>
                <a:ea typeface="Bricolage Grotesque"/>
                <a:cs typeface="Bricolage Grotesque"/>
                <a:sym typeface="Bricolage Grotesque"/>
              </a:rPr>
              <a:t>   // CALCULATE BILL WHEN EXIT PULSE COMES</a:t>
            </a:r>
          </a:p>
          <a:p>
            <a:pPr algn="just">
              <a:lnSpc>
                <a:spcPts val="2300"/>
              </a:lnSpc>
            </a:pPr>
            <a:r>
              <a:rPr lang="en-US" sz="2300" spc="-138">
                <a:solidFill>
                  <a:srgbClr val="FFFFFF"/>
                </a:solidFill>
                <a:latin typeface="Bricolage Grotesque"/>
                <a:ea typeface="Bricolage Grotesque"/>
                <a:cs typeface="Bricolage Grotesque"/>
                <a:sym typeface="Bricolage Grotesque"/>
              </a:rPr>
              <a:t>   If exit_pulse:</a:t>
            </a:r>
          </a:p>
          <a:p>
            <a:pPr algn="just">
              <a:lnSpc>
                <a:spcPts val="2300"/>
              </a:lnSpc>
            </a:pPr>
            <a:r>
              <a:rPr lang="en-US" sz="2300" spc="-138">
                <a:solidFill>
                  <a:srgbClr val="FFFFFF"/>
                </a:solidFill>
                <a:latin typeface="Bricolage Grotesque"/>
                <a:ea typeface="Bricolage Grotesque"/>
                <a:cs typeface="Bricolage Grotesque"/>
                <a:sym typeface="Bricolage Grotesque"/>
              </a:rPr>
              <a:t>       fee = elapsed_time(exit_slot) * RATE</a:t>
            </a:r>
          </a:p>
          <a:p>
            <a:pPr algn="just">
              <a:lnSpc>
                <a:spcPts val="2300"/>
              </a:lnSpc>
            </a:pPr>
          </a:p>
          <a:p>
            <a:pPr algn="just">
              <a:lnSpc>
                <a:spcPts val="2300"/>
              </a:lnSpc>
            </a:pPr>
            <a:r>
              <a:rPr lang="en-US" sz="2300" spc="-138">
                <a:solidFill>
                  <a:srgbClr val="FFFFFF"/>
                </a:solidFill>
                <a:latin typeface="Bricolage Grotesque"/>
                <a:ea typeface="Bricolage Grotesque"/>
                <a:cs typeface="Bricolage Grotesque"/>
                <a:sym typeface="Bricolage Grotesque"/>
              </a:rPr>
              <a:t>   // START TIMERS WHEN A CAR ENTERS A SLOT</a:t>
            </a:r>
          </a:p>
          <a:p>
            <a:pPr algn="just">
              <a:lnSpc>
                <a:spcPts val="2300"/>
              </a:lnSpc>
            </a:pPr>
            <a:r>
              <a:rPr lang="en-US" sz="2300" spc="-138">
                <a:solidFill>
                  <a:srgbClr val="FFFFFF"/>
                </a:solidFill>
                <a:latin typeface="Bricolage Grotesque"/>
                <a:ea typeface="Bricolage Grotesque"/>
                <a:cs typeface="Bricolage Grotesque"/>
                <a:sym typeface="Bricolage Grotesque"/>
              </a:rPr>
              <a:t>   For each slot i in {0,1,2,3}:</a:t>
            </a:r>
          </a:p>
          <a:p>
            <a:pPr algn="just">
              <a:lnSpc>
                <a:spcPts val="2300"/>
              </a:lnSpc>
            </a:pPr>
            <a:r>
              <a:rPr lang="en-US" sz="2300" spc="-138">
                <a:solidFill>
                  <a:srgbClr val="FFFFFF"/>
                </a:solidFill>
                <a:latin typeface="Bricolage Grotesque"/>
                <a:ea typeface="Bricolage Grotesque"/>
                <a:cs typeface="Bricolage Grotesque"/>
                <a:sym typeface="Bricolage Grotesque"/>
              </a:rPr>
              <a:t>       If occupancy[i] == 1:</a:t>
            </a:r>
          </a:p>
          <a:p>
            <a:pPr algn="just">
              <a:lnSpc>
                <a:spcPts val="2300"/>
              </a:lnSpc>
            </a:pPr>
            <a:r>
              <a:rPr lang="en-US" sz="2300" spc="-138">
                <a:solidFill>
                  <a:srgbClr val="FFFFFF"/>
                </a:solidFill>
                <a:latin typeface="Bricolage Grotesque"/>
                <a:ea typeface="Bricolage Grotesque"/>
                <a:cs typeface="Bricolage Grotesque"/>
                <a:sym typeface="Bricolage Grotesque"/>
              </a:rPr>
              <a:t>           If timer was OFF:</a:t>
            </a:r>
          </a:p>
          <a:p>
            <a:pPr algn="just">
              <a:lnSpc>
                <a:spcPts val="2300"/>
              </a:lnSpc>
            </a:pPr>
            <a:r>
              <a:rPr lang="en-US" sz="2300" spc="-138">
                <a:solidFill>
                  <a:srgbClr val="FFFFFF"/>
                </a:solidFill>
                <a:latin typeface="Bricolage Grotesque"/>
                <a:ea typeface="Bricolage Grotesque"/>
                <a:cs typeface="Bricolage Grotesque"/>
                <a:sym typeface="Bricolage Grotesque"/>
              </a:rPr>
              <a:t>               reset timer[i] to 0</a:t>
            </a:r>
          </a:p>
          <a:p>
            <a:pPr algn="just">
              <a:lnSpc>
                <a:spcPts val="2300"/>
              </a:lnSpc>
            </a:pPr>
            <a:r>
              <a:rPr lang="en-US" sz="2300" spc="-138">
                <a:solidFill>
                  <a:srgbClr val="FFFFFF"/>
                </a:solidFill>
                <a:latin typeface="Bricolage Grotesque"/>
                <a:ea typeface="Bricolage Grotesque"/>
                <a:cs typeface="Bricolage Grotesque"/>
                <a:sym typeface="Bricolage Grotesque"/>
              </a:rPr>
              <a:t>           turn timer ON</a:t>
            </a:r>
          </a:p>
          <a:p>
            <a:pPr algn="just">
              <a:lnSpc>
                <a:spcPts val="2300"/>
              </a:lnSpc>
            </a:pPr>
            <a:r>
              <a:rPr lang="en-US" sz="2300" spc="-138">
                <a:solidFill>
                  <a:srgbClr val="FFFFFF"/>
                </a:solidFill>
                <a:latin typeface="Bricolage Grotesque"/>
                <a:ea typeface="Bricolage Grotesque"/>
                <a:cs typeface="Bricolage Grotesque"/>
                <a:sym typeface="Bricolage Grotesque"/>
              </a:rPr>
              <a:t>       Else:</a:t>
            </a:r>
          </a:p>
          <a:p>
            <a:pPr algn="just">
              <a:lnSpc>
                <a:spcPts val="2300"/>
              </a:lnSpc>
            </a:pPr>
            <a:r>
              <a:rPr lang="en-US" sz="2300" spc="-138">
                <a:solidFill>
                  <a:srgbClr val="FFFFFF"/>
                </a:solidFill>
                <a:latin typeface="Bricolage Grotesque"/>
                <a:ea typeface="Bricolage Grotesque"/>
                <a:cs typeface="Bricolage Grotesque"/>
                <a:sym typeface="Bricolage Grotesque"/>
              </a:rPr>
              <a:t>           turn timer OFF</a:t>
            </a:r>
          </a:p>
          <a:p>
            <a:pPr algn="just">
              <a:lnSpc>
                <a:spcPts val="2300"/>
              </a:lnSpc>
            </a:pPr>
          </a:p>
          <a:p>
            <a:pPr algn="just">
              <a:lnSpc>
                <a:spcPts val="2300"/>
              </a:lnSpc>
            </a:pPr>
            <a:r>
              <a:rPr lang="en-US" sz="2300" spc="-138">
                <a:solidFill>
                  <a:srgbClr val="FFFFFF"/>
                </a:solidFill>
                <a:latin typeface="Bricolage Grotesque"/>
                <a:ea typeface="Bricolage Grotesque"/>
                <a:cs typeface="Bricolage Grotesque"/>
                <a:sym typeface="Bricolage Grotesque"/>
              </a:rPr>
              <a:t>   // INCREMENT TIMERS FOR OCCUPIED SLOTS</a:t>
            </a:r>
          </a:p>
          <a:p>
            <a:pPr algn="just">
              <a:lnSpc>
                <a:spcPts val="2300"/>
              </a:lnSpc>
            </a:pPr>
            <a:r>
              <a:rPr lang="en-US" sz="2300" spc="-138">
                <a:solidFill>
                  <a:srgbClr val="FFFFFF"/>
                </a:solidFill>
                <a:latin typeface="Bricolage Grotesque"/>
                <a:ea typeface="Bricolage Grotesque"/>
                <a:cs typeface="Bricolage Grotesque"/>
                <a:sym typeface="Bricolage Grotesque"/>
              </a:rPr>
              <a:t>   For each slot where timer is ON:</a:t>
            </a:r>
          </a:p>
          <a:p>
            <a:pPr algn="just">
              <a:lnSpc>
                <a:spcPts val="2300"/>
              </a:lnSpc>
            </a:pPr>
            <a:r>
              <a:rPr lang="en-US" sz="2300" spc="-138">
                <a:solidFill>
                  <a:srgbClr val="FFFFFF"/>
                </a:solidFill>
                <a:latin typeface="Bricolage Grotesque"/>
                <a:ea typeface="Bricolage Grotesque"/>
                <a:cs typeface="Bricolage Grotesque"/>
                <a:sym typeface="Bricolage Grotesque"/>
              </a:rPr>
              <a:t>       timer[i] = timer[i] + 1</a:t>
            </a:r>
          </a:p>
          <a:p>
            <a:pPr algn="just">
              <a:lnSpc>
                <a:spcPts val="2499"/>
              </a:lnSpc>
              <a:spcBef>
                <a:spcPct val="0"/>
              </a:spcBef>
            </a:pPr>
            <a:r>
              <a:rPr lang="en-US" sz="2499" spc="-149">
                <a:solidFill>
                  <a:srgbClr val="FFFFFF"/>
                </a:solidFill>
                <a:latin typeface="Bricolage Grotesque"/>
                <a:ea typeface="Bricolage Grotesque"/>
                <a:cs typeface="Bricolage Grotesque"/>
                <a:sym typeface="Bricolage Grotesque"/>
              </a:rPr>
              <a:t>END LOOP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028700" y="627994"/>
            <a:ext cx="8669447" cy="812165"/>
          </a:xfrm>
          <a:prstGeom prst="rect">
            <a:avLst/>
          </a:prstGeom>
        </p:spPr>
        <p:txBody>
          <a:bodyPr anchor="t" rtlCol="false" tIns="0" lIns="0" bIns="0" rIns="0">
            <a:spAutoFit/>
          </a:bodyPr>
          <a:lstStyle/>
          <a:p>
            <a:pPr algn="ctr">
              <a:lnSpc>
                <a:spcPts val="6099"/>
              </a:lnSpc>
              <a:spcBef>
                <a:spcPct val="0"/>
              </a:spcBef>
            </a:pPr>
            <a:r>
              <a:rPr lang="en-US" b="true" sz="6099" spc="-365">
                <a:solidFill>
                  <a:srgbClr val="FCA311"/>
                </a:solidFill>
                <a:latin typeface="Bricolage Grotesque Semi-Bold"/>
                <a:ea typeface="Bricolage Grotesque Semi-Bold"/>
                <a:cs typeface="Bricolage Grotesque Semi-Bold"/>
                <a:sym typeface="Bricolage Grotesque Semi-Bold"/>
              </a:rPr>
              <a:t>Implementation &amp;  Testing </a:t>
            </a:r>
          </a:p>
        </p:txBody>
      </p:sp>
      <p:sp>
        <p:nvSpPr>
          <p:cNvPr name="TextBox 3" id="3"/>
          <p:cNvSpPr txBox="true"/>
          <p:nvPr/>
        </p:nvSpPr>
        <p:spPr>
          <a:xfrm rot="0">
            <a:off x="1028700" y="1630639"/>
            <a:ext cx="16230600" cy="1021599"/>
          </a:xfrm>
          <a:prstGeom prst="rect">
            <a:avLst/>
          </a:prstGeom>
        </p:spPr>
        <p:txBody>
          <a:bodyPr anchor="t" rtlCol="false" tIns="0" lIns="0" bIns="0" rIns="0">
            <a:spAutoFit/>
          </a:bodyPr>
          <a:lstStyle/>
          <a:p>
            <a:pPr algn="l">
              <a:lnSpc>
                <a:spcPts val="2499"/>
              </a:lnSpc>
            </a:pPr>
            <a:r>
              <a:rPr lang="en-US" sz="2499" spc="-149">
                <a:solidFill>
                  <a:srgbClr val="FFFFFF"/>
                </a:solidFill>
                <a:latin typeface="Bricolage Grotesque"/>
                <a:ea typeface="Bricolage Grotesque"/>
                <a:cs typeface="Bricolage Grotesque"/>
                <a:sym typeface="Bricolage Grotesque"/>
              </a:rPr>
              <a:t>After coding and synthesizing the parking system using Verilog HDL, the design was simulated using waveform-based verification. Multiple real-world scenarios were tested to ensure correctness, stability, and edge-case handling.</a:t>
            </a:r>
          </a:p>
          <a:p>
            <a:pPr algn="ctr">
              <a:lnSpc>
                <a:spcPts val="2940"/>
              </a:lnSpc>
              <a:spcBef>
                <a:spcPct val="0"/>
              </a:spcBef>
            </a:pPr>
          </a:p>
        </p:txBody>
      </p:sp>
      <p:sp>
        <p:nvSpPr>
          <p:cNvPr name="TextBox 4" id="4"/>
          <p:cNvSpPr txBox="true"/>
          <p:nvPr/>
        </p:nvSpPr>
        <p:spPr>
          <a:xfrm rot="0">
            <a:off x="1028700" y="2463931"/>
            <a:ext cx="16230600" cy="3787775"/>
          </a:xfrm>
          <a:prstGeom prst="rect">
            <a:avLst/>
          </a:prstGeom>
        </p:spPr>
        <p:txBody>
          <a:bodyPr anchor="t" rtlCol="false" tIns="0" lIns="0" bIns="0" rIns="0">
            <a:spAutoFit/>
          </a:bodyPr>
          <a:lstStyle/>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Testing followed a structured simulation-driven approach using waveform analysis. Both module-level and system-level testbenches were executed to validate functionality under real-world and edge-case scenarios.</a:t>
            </a:r>
          </a:p>
          <a:p>
            <a:pPr algn="l">
              <a:lnSpc>
                <a:spcPts val="2499"/>
              </a:lnSpc>
              <a:spcBef>
                <a:spcPct val="0"/>
              </a:spcBef>
            </a:pP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 Test Coverage Included:</a:t>
            </a:r>
          </a:p>
          <a:p>
            <a:pPr algn="l">
              <a:lnSpc>
                <a:spcPts val="2499"/>
              </a:lnSpc>
              <a:spcBef>
                <a:spcPct val="0"/>
              </a:spcBef>
            </a:pPr>
          </a:p>
          <a:p>
            <a:pPr algn="l" marL="539749" indent="-269875" lvl="1">
              <a:lnSpc>
                <a:spcPts val="2499"/>
              </a:lnSpc>
              <a:spcBef>
                <a:spcPct val="0"/>
              </a:spcBef>
              <a:buFont typeface="Arial"/>
              <a:buChar char="•"/>
            </a:pPr>
            <a:r>
              <a:rPr lang="en-US" sz="2499" spc="-149">
                <a:solidFill>
                  <a:srgbClr val="FFFFFF"/>
                </a:solidFill>
                <a:latin typeface="Bricolage Grotesque"/>
                <a:ea typeface="Bricolage Grotesque"/>
                <a:cs typeface="Bricolage Grotesque"/>
                <a:sym typeface="Bricolage Grotesque"/>
              </a:rPr>
              <a:t>Test Case 1 : Multiple Cars Enter and Exit in Sequence</a:t>
            </a:r>
          </a:p>
          <a:p>
            <a:pPr algn="l" marL="539749" indent="-269875" lvl="1">
              <a:lnSpc>
                <a:spcPts val="2499"/>
              </a:lnSpc>
              <a:spcBef>
                <a:spcPct val="0"/>
              </a:spcBef>
              <a:buFont typeface="Arial"/>
              <a:buChar char="•"/>
            </a:pPr>
            <a:r>
              <a:rPr lang="en-US" sz="2499" spc="-149">
                <a:solidFill>
                  <a:srgbClr val="FFFFFF"/>
                </a:solidFill>
                <a:latin typeface="Bricolage Grotesque"/>
                <a:ea typeface="Bricolage Grotesque"/>
                <a:cs typeface="Bricolage Grotesque"/>
                <a:sym typeface="Bricolage Grotesque"/>
              </a:rPr>
              <a:t>Test Case 2: Exit Denied Until Payment Received</a:t>
            </a:r>
          </a:p>
          <a:p>
            <a:pPr algn="l" marL="539749" indent="-269875" lvl="1">
              <a:lnSpc>
                <a:spcPts val="2499"/>
              </a:lnSpc>
              <a:spcBef>
                <a:spcPct val="0"/>
              </a:spcBef>
              <a:buFont typeface="Arial"/>
              <a:buChar char="•"/>
            </a:pPr>
            <a:r>
              <a:rPr lang="en-US" sz="2499" spc="-149">
                <a:solidFill>
                  <a:srgbClr val="FFFFFF"/>
                </a:solidFill>
                <a:latin typeface="Bricolage Grotesque"/>
                <a:ea typeface="Bricolage Grotesque"/>
                <a:cs typeface="Bricolage Grotesque"/>
                <a:sym typeface="Bricolage Grotesque"/>
              </a:rPr>
              <a:t>Test Case 3: Full Lot Condition — Car Attempts Entry</a:t>
            </a:r>
          </a:p>
          <a:p>
            <a:pPr algn="l" marL="539749" indent="-269875" lvl="1">
              <a:lnSpc>
                <a:spcPts val="2499"/>
              </a:lnSpc>
              <a:spcBef>
                <a:spcPct val="0"/>
              </a:spcBef>
              <a:buFont typeface="Arial"/>
              <a:buChar char="•"/>
            </a:pPr>
            <a:r>
              <a:rPr lang="en-US" sz="2499" spc="-149">
                <a:solidFill>
                  <a:srgbClr val="FFFFFF"/>
                </a:solidFill>
                <a:latin typeface="Bricolage Grotesque"/>
                <a:ea typeface="Bricolage Grotesque"/>
                <a:cs typeface="Bricolage Grotesque"/>
                <a:sym typeface="Bricolage Grotesque"/>
              </a:rPr>
              <a:t>Test Case 4: Exit Request on an Empty Slot (Fallback Exit Logic)</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Test Case 5: Timer Reset on Re-Entry</a:t>
            </a:r>
          </a:p>
          <a:p>
            <a:pPr algn="l">
              <a:lnSpc>
                <a:spcPts val="2499"/>
              </a:lnSpc>
              <a:spcBef>
                <a:spcPct val="0"/>
              </a:spcBef>
            </a:pPr>
          </a:p>
          <a:p>
            <a:pPr algn="l">
              <a:lnSpc>
                <a:spcPts val="2499"/>
              </a:lnSpc>
              <a:spcBef>
                <a:spcPct val="0"/>
              </a:spcBef>
            </a:pPr>
          </a:p>
        </p:txBody>
      </p:sp>
      <p:sp>
        <p:nvSpPr>
          <p:cNvPr name="TextBox 5" id="5"/>
          <p:cNvSpPr txBox="true"/>
          <p:nvPr/>
        </p:nvSpPr>
        <p:spPr>
          <a:xfrm rot="0">
            <a:off x="1028700" y="5907923"/>
            <a:ext cx="16230600" cy="4270375"/>
          </a:xfrm>
          <a:prstGeom prst="rect">
            <a:avLst/>
          </a:prstGeom>
        </p:spPr>
        <p:txBody>
          <a:bodyPr anchor="t" rtlCol="false" tIns="0" lIns="0" bIns="0" rIns="0">
            <a:spAutoFit/>
          </a:bodyPr>
          <a:lstStyle/>
          <a:p>
            <a:pPr algn="just">
              <a:lnSpc>
                <a:spcPts val="2999"/>
              </a:lnSpc>
            </a:pPr>
            <a:r>
              <a:rPr lang="en-US" sz="2999" spc="-179">
                <a:solidFill>
                  <a:srgbClr val="FFFFFF"/>
                </a:solidFill>
                <a:latin typeface="Bricolage Grotesque"/>
                <a:ea typeface="Bricolage Grotesque"/>
                <a:cs typeface="Bricolage Grotesque"/>
                <a:sym typeface="Bricolage Grotesque"/>
              </a:rPr>
              <a:t>🧪</a:t>
            </a:r>
            <a:r>
              <a:rPr lang="en-US" b="true" sz="2999" spc="-179">
                <a:solidFill>
                  <a:srgbClr val="FFFFFF"/>
                </a:solidFill>
                <a:latin typeface="Bricolage Grotesque Bold"/>
                <a:ea typeface="Bricolage Grotesque Bold"/>
                <a:cs typeface="Bricolage Grotesque Bold"/>
                <a:sym typeface="Bricolage Grotesque Bold"/>
              </a:rPr>
              <a:t> Test Case 1: Multiple Cars Enter and Exit in Sequence</a:t>
            </a:r>
          </a:p>
          <a:p>
            <a:pPr algn="just">
              <a:lnSpc>
                <a:spcPts val="29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Objective:</a:t>
            </a:r>
          </a:p>
          <a:p>
            <a:pPr algn="just">
              <a:lnSpc>
                <a:spcPts val="2499"/>
              </a:lnSpc>
            </a:pPr>
            <a:r>
              <a:rPr lang="en-US" sz="2499" spc="-149">
                <a:solidFill>
                  <a:srgbClr val="FFFFFF"/>
                </a:solidFill>
                <a:latin typeface="Bricolage Grotesque"/>
                <a:ea typeface="Bricolage Grotesque"/>
                <a:cs typeface="Bricolage Grotesque"/>
                <a:sym typeface="Bricolage Grotesque"/>
              </a:rPr>
              <a:t> To verify correct slot allocation, timing, billing, and status tracking through multiple complete cycles.</a:t>
            </a:r>
          </a:p>
          <a:p>
            <a:pPr algn="just">
              <a:lnSpc>
                <a:spcPts val="24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Expected Behavior:</a:t>
            </a:r>
          </a:p>
          <a:p>
            <a:pPr algn="just">
              <a:lnSpc>
                <a:spcPts val="2499"/>
              </a:lnSpc>
            </a:pPr>
            <a:r>
              <a:rPr lang="en-US" sz="2499" spc="-149">
                <a:solidFill>
                  <a:srgbClr val="FFFFFF"/>
                </a:solidFill>
                <a:latin typeface="Bricolage Grotesque"/>
                <a:ea typeface="Bricolage Grotesque"/>
                <a:cs typeface="Bricolage Grotesque"/>
                <a:sym typeface="Bricolage Grotesque"/>
              </a:rPr>
              <a:t> Each parking cycle should run independently with correct timer reset, fee calculation, and occupancy tracking.</a:t>
            </a:r>
          </a:p>
          <a:p>
            <a:pPr algn="just">
              <a:lnSpc>
                <a:spcPts val="24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Outcome:</a:t>
            </a:r>
          </a:p>
          <a:p>
            <a:pPr algn="just">
              <a:lnSpc>
                <a:spcPts val="2499"/>
              </a:lnSpc>
            </a:pPr>
            <a:r>
              <a:rPr lang="en-US" sz="2499" spc="-149">
                <a:solidFill>
                  <a:srgbClr val="FFFFFF"/>
                </a:solidFill>
                <a:latin typeface="Bricolage Grotesque"/>
                <a:ea typeface="Bricolage Grotesque"/>
                <a:cs typeface="Bricolage Grotesque"/>
                <a:sym typeface="Bricolage Grotesque"/>
              </a:rPr>
              <a:t> ✔ System remained stable across repeated operations with no slot conflict, race condition, or billing errors.</a:t>
            </a:r>
          </a:p>
          <a:p>
            <a:pPr algn="just">
              <a:lnSpc>
                <a:spcPts val="2499"/>
              </a:lnSpc>
            </a:pPr>
          </a:p>
          <a:p>
            <a:pPr algn="just">
              <a:lnSpc>
                <a:spcPts val="2999"/>
              </a:lnSpc>
            </a:pPr>
          </a:p>
          <a:p>
            <a:pPr algn="ctr">
              <a:lnSpc>
                <a:spcPts val="2499"/>
              </a:lnSpc>
              <a:spcBef>
                <a:spcPct val="0"/>
              </a:spcBef>
            </a:pPr>
          </a:p>
        </p:txBody>
      </p:sp>
      <p:sp>
        <p:nvSpPr>
          <p:cNvPr name="TextBox 6" id="6"/>
          <p:cNvSpPr txBox="true"/>
          <p:nvPr/>
        </p:nvSpPr>
        <p:spPr>
          <a:xfrm rot="0">
            <a:off x="12739836" y="5898398"/>
            <a:ext cx="4519464" cy="958850"/>
          </a:xfrm>
          <a:prstGeom prst="rect">
            <a:avLst/>
          </a:prstGeom>
        </p:spPr>
        <p:txBody>
          <a:bodyPr anchor="t" rtlCol="false" tIns="0" lIns="0" bIns="0" rIns="0">
            <a:spAutoFit/>
          </a:bodyPr>
          <a:lstStyle/>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Click to Simulate:  </a:t>
            </a:r>
          </a:p>
          <a:p>
            <a:pPr algn="l">
              <a:lnSpc>
                <a:spcPts val="2499"/>
              </a:lnSpc>
            </a:pPr>
            <a:r>
              <a:rPr lang="en-US" sz="2499" spc="-149" u="sng">
                <a:solidFill>
                  <a:srgbClr val="FF914D"/>
                </a:solidFill>
                <a:latin typeface="Bricolage Grotesque"/>
                <a:ea typeface="Bricolage Grotesque"/>
                <a:cs typeface="Bricolage Grotesque"/>
                <a:sym typeface="Bricolage Grotesque"/>
                <a:hlinkClick r:id="rId2" tooltip="https://edaplayground.com/x/c54K"/>
              </a:rPr>
              <a:t>https://edaplayground.com/x/c54K</a:t>
            </a:r>
          </a:p>
          <a:p>
            <a:pPr algn="r">
              <a:lnSpc>
                <a:spcPts val="249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028700" y="5673725"/>
            <a:ext cx="16230600" cy="3584575"/>
          </a:xfrm>
          <a:prstGeom prst="rect">
            <a:avLst/>
          </a:prstGeom>
        </p:spPr>
        <p:txBody>
          <a:bodyPr anchor="t" rtlCol="false" tIns="0" lIns="0" bIns="0" rIns="0">
            <a:spAutoFit/>
          </a:bodyPr>
          <a:lstStyle/>
          <a:p>
            <a:pPr algn="l">
              <a:lnSpc>
                <a:spcPts val="2999"/>
              </a:lnSpc>
            </a:pPr>
            <a:r>
              <a:rPr lang="en-US" sz="2999" spc="-179" b="true">
                <a:solidFill>
                  <a:srgbClr val="FFFFFF"/>
                </a:solidFill>
                <a:latin typeface="Bricolage Grotesque Semi-Bold"/>
                <a:ea typeface="Bricolage Grotesque Semi-Bold"/>
                <a:cs typeface="Bricolage Grotesque Semi-Bold"/>
                <a:sym typeface="Bricolage Grotesque Semi-Bold"/>
              </a:rPr>
              <a:t>🧪 Test Case 3: Full Lot Condition — Car Attempts Entry</a:t>
            </a:r>
          </a:p>
          <a:p>
            <a:pPr algn="l">
              <a:lnSpc>
                <a:spcPts val="2999"/>
              </a:lnSpc>
            </a:pPr>
          </a:p>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Objective:</a:t>
            </a:r>
          </a:p>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To confirm that no new vehicle can enter when all slots are occupied.</a:t>
            </a:r>
          </a:p>
          <a:p>
            <a:pPr algn="l">
              <a:lnSpc>
                <a:spcPts val="2499"/>
              </a:lnSpc>
            </a:pPr>
          </a:p>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Expected Behavior:</a:t>
            </a:r>
          </a:p>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The entry gate should remain closed, and slot allocation should not proceed when free_count = 0.</a:t>
            </a:r>
          </a:p>
          <a:p>
            <a:pPr algn="l">
              <a:lnSpc>
                <a:spcPts val="2499"/>
              </a:lnSpc>
            </a:pPr>
          </a:p>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Outcome:</a:t>
            </a:r>
          </a:p>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 Entry was blocked correctly and the full_led indicator remained active.</a:t>
            </a:r>
          </a:p>
          <a:p>
            <a:pPr algn="ctr">
              <a:lnSpc>
                <a:spcPts val="2499"/>
              </a:lnSpc>
              <a:spcBef>
                <a:spcPct val="0"/>
              </a:spcBef>
            </a:pPr>
          </a:p>
        </p:txBody>
      </p:sp>
      <p:sp>
        <p:nvSpPr>
          <p:cNvPr name="TextBox 3" id="3"/>
          <p:cNvSpPr txBox="true"/>
          <p:nvPr/>
        </p:nvSpPr>
        <p:spPr>
          <a:xfrm rot="0">
            <a:off x="1028700" y="1085850"/>
            <a:ext cx="16230600" cy="3956050"/>
          </a:xfrm>
          <a:prstGeom prst="rect">
            <a:avLst/>
          </a:prstGeom>
        </p:spPr>
        <p:txBody>
          <a:bodyPr anchor="t" rtlCol="false" tIns="0" lIns="0" bIns="0" rIns="0">
            <a:spAutoFit/>
          </a:bodyPr>
          <a:lstStyle/>
          <a:p>
            <a:pPr algn="just">
              <a:lnSpc>
                <a:spcPts val="2999"/>
              </a:lnSpc>
            </a:pPr>
            <a:r>
              <a:rPr lang="en-US" sz="2999" spc="-179">
                <a:solidFill>
                  <a:srgbClr val="FFFFFF"/>
                </a:solidFill>
                <a:latin typeface="Bricolage Grotesque"/>
                <a:ea typeface="Bricolage Grotesque"/>
                <a:cs typeface="Bricolage Grotesque"/>
                <a:sym typeface="Bricolage Grotesque"/>
              </a:rPr>
              <a:t>🧪 </a:t>
            </a:r>
            <a:r>
              <a:rPr lang="en-US" b="true" sz="2999" spc="-179">
                <a:solidFill>
                  <a:srgbClr val="FFFFFF"/>
                </a:solidFill>
                <a:latin typeface="Bricolage Grotesque Bold"/>
                <a:ea typeface="Bricolage Grotesque Bold"/>
                <a:cs typeface="Bricolage Grotesque Bold"/>
                <a:sym typeface="Bricolage Grotesque Bold"/>
              </a:rPr>
              <a:t>Test Case 2: Exit Denied Until Payment Received</a:t>
            </a:r>
          </a:p>
          <a:p>
            <a:pPr algn="just">
              <a:lnSpc>
                <a:spcPts val="29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Objective:</a:t>
            </a:r>
          </a:p>
          <a:p>
            <a:pPr algn="just">
              <a:lnSpc>
                <a:spcPts val="2499"/>
              </a:lnSpc>
            </a:pPr>
            <a:r>
              <a:rPr lang="en-US" sz="2499" spc="-149">
                <a:solidFill>
                  <a:srgbClr val="FFFFFF"/>
                </a:solidFill>
                <a:latin typeface="Bricolage Grotesque"/>
                <a:ea typeface="Bricolage Grotesque"/>
                <a:cs typeface="Bricolage Grotesque"/>
                <a:sym typeface="Bricolage Grotesque"/>
              </a:rPr>
              <a:t> To ensure payment enforcement logic prevents unauthorized exit.</a:t>
            </a:r>
          </a:p>
          <a:p>
            <a:pPr algn="just">
              <a:lnSpc>
                <a:spcPts val="24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Expected Behavior:</a:t>
            </a:r>
          </a:p>
          <a:p>
            <a:pPr algn="just">
              <a:lnSpc>
                <a:spcPts val="2499"/>
              </a:lnSpc>
            </a:pPr>
            <a:r>
              <a:rPr lang="en-US" sz="2499" spc="-149">
                <a:solidFill>
                  <a:srgbClr val="FFFFFF"/>
                </a:solidFill>
                <a:latin typeface="Bricolage Grotesque"/>
                <a:ea typeface="Bricolage Grotesque"/>
                <a:cs typeface="Bricolage Grotesque"/>
                <a:sym typeface="Bricolage Grotesque"/>
              </a:rPr>
              <a:t> The system should calculate the fee and remain in a waiting state until payment_received = 1, only then allowing the exit.</a:t>
            </a:r>
          </a:p>
          <a:p>
            <a:pPr algn="just">
              <a:lnSpc>
                <a:spcPts val="24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Outcome:</a:t>
            </a:r>
          </a:p>
          <a:p>
            <a:pPr algn="just">
              <a:lnSpc>
                <a:spcPts val="2499"/>
              </a:lnSpc>
            </a:pPr>
            <a:r>
              <a:rPr lang="en-US" sz="2499" spc="-149">
                <a:solidFill>
                  <a:srgbClr val="FFFFFF"/>
                </a:solidFill>
                <a:latin typeface="Bricolage Grotesque"/>
                <a:ea typeface="Bricolage Grotesque"/>
                <a:cs typeface="Bricolage Grotesque"/>
                <a:sym typeface="Bricolage Grotesque"/>
              </a:rPr>
              <a:t> ✔ Exit gate activation occurred only after payment confirmation, validating secure exit control.</a:t>
            </a:r>
          </a:p>
          <a:p>
            <a:pPr algn="just">
              <a:lnSpc>
                <a:spcPts val="2999"/>
              </a:lnSpc>
            </a:pPr>
          </a:p>
          <a:p>
            <a:pPr algn="ctr">
              <a:lnSpc>
                <a:spcPts val="2499"/>
              </a:lnSpc>
              <a:spcBef>
                <a:spcPct val="0"/>
              </a:spcBef>
            </a:pPr>
          </a:p>
        </p:txBody>
      </p:sp>
      <p:sp>
        <p:nvSpPr>
          <p:cNvPr name="TextBox 4" id="4"/>
          <p:cNvSpPr txBox="true"/>
          <p:nvPr/>
        </p:nvSpPr>
        <p:spPr>
          <a:xfrm rot="0">
            <a:off x="12777213" y="5664200"/>
            <a:ext cx="4482087" cy="958850"/>
          </a:xfrm>
          <a:prstGeom prst="rect">
            <a:avLst/>
          </a:prstGeom>
        </p:spPr>
        <p:txBody>
          <a:bodyPr anchor="t" rtlCol="false" tIns="0" lIns="0" bIns="0" rIns="0">
            <a:spAutoFit/>
          </a:bodyPr>
          <a:lstStyle/>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Click to Simulate:  </a:t>
            </a:r>
          </a:p>
          <a:p>
            <a:pPr algn="l">
              <a:lnSpc>
                <a:spcPts val="2499"/>
              </a:lnSpc>
            </a:pPr>
            <a:r>
              <a:rPr lang="en-US" sz="2499" spc="-149" u="sng">
                <a:solidFill>
                  <a:srgbClr val="FF914D"/>
                </a:solidFill>
                <a:latin typeface="Bricolage Grotesque"/>
                <a:ea typeface="Bricolage Grotesque"/>
                <a:cs typeface="Bricolage Grotesque"/>
                <a:sym typeface="Bricolage Grotesque"/>
                <a:hlinkClick r:id="rId2" tooltip="https://edaplayground.com/x/SxCr"/>
              </a:rPr>
              <a:t>https://edaplayground.com/x/SxCr</a:t>
            </a:r>
          </a:p>
          <a:p>
            <a:pPr algn="r">
              <a:lnSpc>
                <a:spcPts val="2499"/>
              </a:lnSpc>
              <a:spcBef>
                <a:spcPct val="0"/>
              </a:spcBef>
            </a:pPr>
          </a:p>
        </p:txBody>
      </p:sp>
      <p:sp>
        <p:nvSpPr>
          <p:cNvPr name="TextBox 5" id="5"/>
          <p:cNvSpPr txBox="true"/>
          <p:nvPr/>
        </p:nvSpPr>
        <p:spPr>
          <a:xfrm rot="0">
            <a:off x="12730907" y="1076325"/>
            <a:ext cx="4602659" cy="958850"/>
          </a:xfrm>
          <a:prstGeom prst="rect">
            <a:avLst/>
          </a:prstGeom>
        </p:spPr>
        <p:txBody>
          <a:bodyPr anchor="t" rtlCol="false" tIns="0" lIns="0" bIns="0" rIns="0">
            <a:spAutoFit/>
          </a:bodyPr>
          <a:lstStyle/>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Click to Simulate:  </a:t>
            </a:r>
          </a:p>
          <a:p>
            <a:pPr algn="l">
              <a:lnSpc>
                <a:spcPts val="2499"/>
              </a:lnSpc>
            </a:pPr>
            <a:r>
              <a:rPr lang="en-US" sz="2499" spc="-149" u="sng">
                <a:solidFill>
                  <a:srgbClr val="FF914D"/>
                </a:solidFill>
                <a:latin typeface="Bricolage Grotesque"/>
                <a:ea typeface="Bricolage Grotesque"/>
                <a:cs typeface="Bricolage Grotesque"/>
                <a:sym typeface="Bricolage Grotesque"/>
                <a:hlinkClick r:id="rId3" tooltip="https://edaplayground.com/x/F55M"/>
              </a:rPr>
              <a:t>https://edaplayground.com/x/F55M</a:t>
            </a:r>
          </a:p>
          <a:p>
            <a:pPr algn="r">
              <a:lnSpc>
                <a:spcPts val="24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028700" y="1038225"/>
            <a:ext cx="16230600" cy="3584575"/>
          </a:xfrm>
          <a:prstGeom prst="rect">
            <a:avLst/>
          </a:prstGeom>
        </p:spPr>
        <p:txBody>
          <a:bodyPr anchor="t" rtlCol="false" tIns="0" lIns="0" bIns="0" rIns="0">
            <a:spAutoFit/>
          </a:bodyPr>
          <a:lstStyle/>
          <a:p>
            <a:pPr algn="just">
              <a:lnSpc>
                <a:spcPts val="2999"/>
              </a:lnSpc>
            </a:pPr>
            <a:r>
              <a:rPr lang="en-US" b="true" sz="2999" spc="-179">
                <a:solidFill>
                  <a:srgbClr val="FFFFFF"/>
                </a:solidFill>
                <a:latin typeface="Bricolage Grotesque Bold"/>
                <a:ea typeface="Bricolage Grotesque Bold"/>
                <a:cs typeface="Bricolage Grotesque Bold"/>
                <a:sym typeface="Bricolage Grotesque Bold"/>
              </a:rPr>
              <a:t>🧪 Test Case 4: Exit Request on an Empty Slot (Fallback Exit Logic)</a:t>
            </a:r>
          </a:p>
          <a:p>
            <a:pPr algn="just">
              <a:lnSpc>
                <a:spcPts val="29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Objective:</a:t>
            </a:r>
          </a:p>
          <a:p>
            <a:pPr algn="just">
              <a:lnSpc>
                <a:spcPts val="2499"/>
              </a:lnSpc>
            </a:pPr>
            <a:r>
              <a:rPr lang="en-US" sz="2499" spc="-149">
                <a:solidFill>
                  <a:srgbClr val="FFFFFF"/>
                </a:solidFill>
                <a:latin typeface="Bricolage Grotesque"/>
                <a:ea typeface="Bricolage Grotesque"/>
                <a:cs typeface="Bricolage Grotesque"/>
                <a:sym typeface="Bricolage Grotesque"/>
              </a:rPr>
              <a:t> To test system resilience when the user attempts to exit a slot that is not occupied.</a:t>
            </a:r>
          </a:p>
          <a:p>
            <a:pPr algn="just">
              <a:lnSpc>
                <a:spcPts val="24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Expected Behavior:</a:t>
            </a:r>
          </a:p>
          <a:p>
            <a:pPr algn="just">
              <a:lnSpc>
                <a:spcPts val="2499"/>
              </a:lnSpc>
            </a:pPr>
            <a:r>
              <a:rPr lang="en-US" sz="2499" spc="-149">
                <a:solidFill>
                  <a:srgbClr val="FFFFFF"/>
                </a:solidFill>
                <a:latin typeface="Bricolage Grotesque"/>
                <a:ea typeface="Bricolage Grotesque"/>
                <a:cs typeface="Bricolage Grotesque"/>
                <a:sym typeface="Bricolage Grotesque"/>
              </a:rPr>
              <a:t> The system should ignore the invalid selection and automatically free the lowest-indexed occupied slot.</a:t>
            </a:r>
          </a:p>
          <a:p>
            <a:pPr algn="just">
              <a:lnSpc>
                <a:spcPts val="2499"/>
              </a:lnSpc>
            </a:pPr>
          </a:p>
          <a:p>
            <a:pPr algn="just">
              <a:lnSpc>
                <a:spcPts val="2499"/>
              </a:lnSpc>
            </a:pPr>
            <a:r>
              <a:rPr lang="en-US" sz="2499" spc="-149">
                <a:solidFill>
                  <a:srgbClr val="FFFFFF"/>
                </a:solidFill>
                <a:latin typeface="Bricolage Grotesque"/>
                <a:ea typeface="Bricolage Grotesque"/>
                <a:cs typeface="Bricolage Grotesque"/>
                <a:sym typeface="Bricolage Grotesque"/>
              </a:rPr>
              <a:t>Outcome:</a:t>
            </a:r>
          </a:p>
          <a:p>
            <a:pPr algn="just">
              <a:lnSpc>
                <a:spcPts val="2499"/>
              </a:lnSpc>
            </a:pPr>
            <a:r>
              <a:rPr lang="en-US" sz="2499" spc="-149">
                <a:solidFill>
                  <a:srgbClr val="FFFFFF"/>
                </a:solidFill>
                <a:latin typeface="Bricolage Grotesque"/>
                <a:ea typeface="Bricolage Grotesque"/>
                <a:cs typeface="Bricolage Grotesque"/>
                <a:sym typeface="Bricolage Grotesque"/>
              </a:rPr>
              <a:t> ✔ Fallback mechanism worked as intended and fee was calculated for the correct slot.</a:t>
            </a:r>
          </a:p>
          <a:p>
            <a:pPr algn="ctr">
              <a:lnSpc>
                <a:spcPts val="2499"/>
              </a:lnSpc>
              <a:spcBef>
                <a:spcPct val="0"/>
              </a:spcBef>
            </a:pPr>
          </a:p>
        </p:txBody>
      </p:sp>
      <p:sp>
        <p:nvSpPr>
          <p:cNvPr name="TextBox 3" id="3"/>
          <p:cNvSpPr txBox="true"/>
          <p:nvPr/>
        </p:nvSpPr>
        <p:spPr>
          <a:xfrm rot="0">
            <a:off x="1028700" y="5311775"/>
            <a:ext cx="16230600" cy="4260850"/>
          </a:xfrm>
          <a:prstGeom prst="rect">
            <a:avLst/>
          </a:prstGeom>
        </p:spPr>
        <p:txBody>
          <a:bodyPr anchor="t" rtlCol="false" tIns="0" lIns="0" bIns="0" rIns="0">
            <a:spAutoFit/>
          </a:bodyPr>
          <a:lstStyle/>
          <a:p>
            <a:pPr algn="l">
              <a:lnSpc>
                <a:spcPts val="2999"/>
              </a:lnSpc>
              <a:spcBef>
                <a:spcPct val="0"/>
              </a:spcBef>
            </a:pPr>
            <a:r>
              <a:rPr lang="en-US" sz="2999" spc="-179">
                <a:solidFill>
                  <a:srgbClr val="FFFFFF"/>
                </a:solidFill>
                <a:latin typeface="Bricolage Grotesque"/>
                <a:ea typeface="Bricolage Grotesque"/>
                <a:cs typeface="Bricolage Grotesque"/>
                <a:sym typeface="Bricolage Grotesque"/>
              </a:rPr>
              <a:t>🧪</a:t>
            </a:r>
            <a:r>
              <a:rPr lang="en-US" b="true" sz="2999" spc="-179">
                <a:solidFill>
                  <a:srgbClr val="FFFFFF"/>
                </a:solidFill>
                <a:latin typeface="Bricolage Grotesque Bold"/>
                <a:ea typeface="Bricolage Grotesque Bold"/>
                <a:cs typeface="Bricolage Grotesque Bold"/>
                <a:sym typeface="Bricolage Grotesque Bold"/>
              </a:rPr>
              <a:t> Test Case 5: Timer Reset </a:t>
            </a:r>
            <a:r>
              <a:rPr lang="en-US" b="true" sz="2999" spc="-179">
                <a:solidFill>
                  <a:srgbClr val="FFFFFF"/>
                </a:solidFill>
                <a:latin typeface="Bricolage Grotesque Bold"/>
                <a:ea typeface="Bricolage Grotesque Bold"/>
                <a:cs typeface="Bricolage Grotesque Bold"/>
                <a:sym typeface="Bricolage Grotesque Bold"/>
              </a:rPr>
              <a:t>on Re-Entry</a:t>
            </a:r>
          </a:p>
          <a:p>
            <a:pPr algn="l">
              <a:lnSpc>
                <a:spcPts val="2499"/>
              </a:lnSpc>
              <a:spcBef>
                <a:spcPct val="0"/>
              </a:spcBef>
            </a:pP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Objective:</a:t>
            </a: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 To verify that the timing module resets when a car exits and then re-enters the system.</a:t>
            </a:r>
          </a:p>
          <a:p>
            <a:pPr algn="l">
              <a:lnSpc>
                <a:spcPts val="2499"/>
              </a:lnSpc>
              <a:spcBef>
                <a:spcPct val="0"/>
              </a:spcBef>
            </a:pP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Expected Behavior:</a:t>
            </a: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 The timer should stop at exit, compute the correct fee, reset to zero, and restart when the vehicle re-enters.</a:t>
            </a:r>
          </a:p>
          <a:p>
            <a:pPr algn="l">
              <a:lnSpc>
                <a:spcPts val="2499"/>
              </a:lnSpc>
              <a:spcBef>
                <a:spcPct val="0"/>
              </a:spcBef>
            </a:pP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Outcome:</a:t>
            </a:r>
          </a:p>
          <a:p>
            <a:pPr algn="l">
              <a:lnSpc>
                <a:spcPts val="2499"/>
              </a:lnSpc>
              <a:spcBef>
                <a:spcPct val="0"/>
              </a:spcBef>
            </a:pPr>
            <a:r>
              <a:rPr lang="en-US" sz="2499" spc="-149">
                <a:solidFill>
                  <a:srgbClr val="FFFFFF"/>
                </a:solidFill>
                <a:latin typeface="Bricolage Grotesque"/>
                <a:ea typeface="Bricolage Grotesque"/>
                <a:cs typeface="Bricolage Grotesque"/>
                <a:sym typeface="Bricolage Grotesque"/>
              </a:rPr>
              <a:t> ✔ Timer restarted successfully without retaining previous values, confirming accurate time tracking per parking session.</a:t>
            </a:r>
          </a:p>
          <a:p>
            <a:pPr algn="l">
              <a:lnSpc>
                <a:spcPts val="2499"/>
              </a:lnSpc>
              <a:spcBef>
                <a:spcPct val="0"/>
              </a:spcBef>
            </a:pPr>
          </a:p>
          <a:p>
            <a:pPr algn="ctr">
              <a:lnSpc>
                <a:spcPts val="5499"/>
              </a:lnSpc>
              <a:spcBef>
                <a:spcPct val="0"/>
              </a:spcBef>
            </a:pPr>
          </a:p>
        </p:txBody>
      </p:sp>
      <p:sp>
        <p:nvSpPr>
          <p:cNvPr name="TextBox 4" id="4"/>
          <p:cNvSpPr txBox="true"/>
          <p:nvPr/>
        </p:nvSpPr>
        <p:spPr>
          <a:xfrm rot="0">
            <a:off x="12687746" y="5302250"/>
            <a:ext cx="4571286" cy="958850"/>
          </a:xfrm>
          <a:prstGeom prst="rect">
            <a:avLst/>
          </a:prstGeom>
        </p:spPr>
        <p:txBody>
          <a:bodyPr anchor="t" rtlCol="false" tIns="0" lIns="0" bIns="0" rIns="0">
            <a:spAutoFit/>
          </a:bodyPr>
          <a:lstStyle/>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Click to Simulate:  </a:t>
            </a:r>
          </a:p>
          <a:p>
            <a:pPr algn="l">
              <a:lnSpc>
                <a:spcPts val="2499"/>
              </a:lnSpc>
            </a:pPr>
            <a:r>
              <a:rPr lang="en-US" sz="2499" spc="-149" u="sng">
                <a:solidFill>
                  <a:srgbClr val="FF914D"/>
                </a:solidFill>
                <a:latin typeface="Bricolage Grotesque"/>
                <a:ea typeface="Bricolage Grotesque"/>
                <a:cs typeface="Bricolage Grotesque"/>
                <a:sym typeface="Bricolage Grotesque"/>
                <a:hlinkClick r:id="rId2" tooltip="https://edaplayground.com/x/dMvx"/>
              </a:rPr>
              <a:t>https://edaplayground.com/x/dMvx</a:t>
            </a:r>
          </a:p>
          <a:p>
            <a:pPr algn="r">
              <a:lnSpc>
                <a:spcPts val="2499"/>
              </a:lnSpc>
              <a:spcBef>
                <a:spcPct val="0"/>
              </a:spcBef>
            </a:pPr>
          </a:p>
        </p:txBody>
      </p:sp>
      <p:sp>
        <p:nvSpPr>
          <p:cNvPr name="TextBox 5" id="5"/>
          <p:cNvSpPr txBox="true"/>
          <p:nvPr/>
        </p:nvSpPr>
        <p:spPr>
          <a:xfrm rot="0">
            <a:off x="12687746" y="1076325"/>
            <a:ext cx="4694019" cy="958850"/>
          </a:xfrm>
          <a:prstGeom prst="rect">
            <a:avLst/>
          </a:prstGeom>
        </p:spPr>
        <p:txBody>
          <a:bodyPr anchor="t" rtlCol="false" tIns="0" lIns="0" bIns="0" rIns="0">
            <a:spAutoFit/>
          </a:bodyPr>
          <a:lstStyle/>
          <a:p>
            <a:pPr algn="l">
              <a:lnSpc>
                <a:spcPts val="2499"/>
              </a:lnSpc>
            </a:pPr>
            <a:r>
              <a:rPr lang="en-US" sz="2499" spc="-149" b="true">
                <a:solidFill>
                  <a:srgbClr val="FFFFFF"/>
                </a:solidFill>
                <a:latin typeface="Bricolage Grotesque Semi-Bold"/>
                <a:ea typeface="Bricolage Grotesque Semi-Bold"/>
                <a:cs typeface="Bricolage Grotesque Semi-Bold"/>
                <a:sym typeface="Bricolage Grotesque Semi-Bold"/>
              </a:rPr>
              <a:t>▶ Click to Simulate:  </a:t>
            </a:r>
          </a:p>
          <a:p>
            <a:pPr algn="l">
              <a:lnSpc>
                <a:spcPts val="2499"/>
              </a:lnSpc>
            </a:pPr>
            <a:r>
              <a:rPr lang="en-US" sz="2499" spc="-149" u="sng">
                <a:solidFill>
                  <a:srgbClr val="FF914D"/>
                </a:solidFill>
                <a:latin typeface="Bricolage Grotesque"/>
                <a:ea typeface="Bricolage Grotesque"/>
                <a:cs typeface="Bricolage Grotesque"/>
                <a:sym typeface="Bricolage Grotesque"/>
                <a:hlinkClick r:id="rId3" tooltip="https://edaplayground.com/x/TNWp"/>
              </a:rPr>
              <a:t>https://edaplayground.com/x/TNWp</a:t>
            </a:r>
          </a:p>
          <a:p>
            <a:pPr algn="r">
              <a:lnSpc>
                <a:spcPts val="249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1028700" y="627994"/>
            <a:ext cx="3923914" cy="812165"/>
          </a:xfrm>
          <a:prstGeom prst="rect">
            <a:avLst/>
          </a:prstGeom>
        </p:spPr>
        <p:txBody>
          <a:bodyPr anchor="t" rtlCol="false" tIns="0" lIns="0" bIns="0" rIns="0">
            <a:spAutoFit/>
          </a:bodyPr>
          <a:lstStyle/>
          <a:p>
            <a:pPr algn="l">
              <a:lnSpc>
                <a:spcPts val="6099"/>
              </a:lnSpc>
              <a:spcBef>
                <a:spcPct val="0"/>
              </a:spcBef>
            </a:pPr>
            <a:r>
              <a:rPr lang="en-US" b="true" sz="6099" spc="-365">
                <a:solidFill>
                  <a:srgbClr val="FCA311"/>
                </a:solidFill>
                <a:latin typeface="Bricolage Grotesque Semi-Bold"/>
                <a:ea typeface="Bricolage Grotesque Semi-Bold"/>
                <a:cs typeface="Bricolage Grotesque Semi-Bold"/>
                <a:sym typeface="Bricolage Grotesque Semi-Bold"/>
              </a:rPr>
              <a:t>Conclusion </a:t>
            </a:r>
          </a:p>
        </p:txBody>
      </p:sp>
      <p:sp>
        <p:nvSpPr>
          <p:cNvPr name="TextBox 3" id="3"/>
          <p:cNvSpPr txBox="true"/>
          <p:nvPr/>
        </p:nvSpPr>
        <p:spPr>
          <a:xfrm rot="0">
            <a:off x="1028700" y="1670050"/>
            <a:ext cx="16230600" cy="3473450"/>
          </a:xfrm>
          <a:prstGeom prst="rect">
            <a:avLst/>
          </a:prstGeom>
        </p:spPr>
        <p:txBody>
          <a:bodyPr anchor="t" rtlCol="false" tIns="0" lIns="0" bIns="0" rIns="0">
            <a:spAutoFit/>
          </a:bodyPr>
          <a:lstStyle/>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The Smart Parking System successfully automates slot allocation, entry control, timing-based billing, and exit authorization using a Verilog-based digital design.</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A centralized FSM ensured reliable synchronization between modules such as slot management, timing, billing, and payment validation.</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Simulation results confirmed correct behavior under realistic scenarios including re-entry, full capacity, incorrect exit selection, and multiple vehicle cycles.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The modular architecture supports scalability, reusability, and future integration with FPGA hardware or IoT-based enhancements.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Overall, the project demonstrates an effective digital solution for automated parking control with safe, predictable, and error-tolerant operation.</a:t>
            </a:r>
          </a:p>
          <a:p>
            <a:pPr algn="l">
              <a:lnSpc>
                <a:spcPts val="2499"/>
              </a:lnSpc>
              <a:spcBef>
                <a:spcPct val="0"/>
              </a:spcBef>
            </a:pPr>
          </a:p>
        </p:txBody>
      </p:sp>
      <p:sp>
        <p:nvSpPr>
          <p:cNvPr name="TextBox 4" id="4"/>
          <p:cNvSpPr txBox="true"/>
          <p:nvPr/>
        </p:nvSpPr>
        <p:spPr>
          <a:xfrm rot="0">
            <a:off x="1028700" y="5238750"/>
            <a:ext cx="8914377" cy="727710"/>
          </a:xfrm>
          <a:prstGeom prst="rect">
            <a:avLst/>
          </a:prstGeom>
        </p:spPr>
        <p:txBody>
          <a:bodyPr anchor="t" rtlCol="false" tIns="0" lIns="0" bIns="0" rIns="0">
            <a:spAutoFit/>
          </a:bodyPr>
          <a:lstStyle/>
          <a:p>
            <a:pPr algn="l">
              <a:lnSpc>
                <a:spcPts val="5400"/>
              </a:lnSpc>
              <a:spcBef>
                <a:spcPct val="0"/>
              </a:spcBef>
            </a:pPr>
            <a:r>
              <a:rPr lang="en-US" b="true" sz="5400" spc="-324">
                <a:solidFill>
                  <a:srgbClr val="FCA311"/>
                </a:solidFill>
                <a:latin typeface="Bricolage Grotesque Semi-Bold"/>
                <a:ea typeface="Bricolage Grotesque Semi-Bold"/>
                <a:cs typeface="Bricolage Grotesque Semi-Bold"/>
                <a:sym typeface="Bricolage Grotesque Semi-Bold"/>
              </a:rPr>
              <a:t>Limitations &amp; Future Scope</a:t>
            </a:r>
          </a:p>
        </p:txBody>
      </p:sp>
      <p:sp>
        <p:nvSpPr>
          <p:cNvPr name="TextBox 5" id="5"/>
          <p:cNvSpPr txBox="true"/>
          <p:nvPr/>
        </p:nvSpPr>
        <p:spPr>
          <a:xfrm rot="0">
            <a:off x="1028700" y="6195060"/>
            <a:ext cx="8115300" cy="2844800"/>
          </a:xfrm>
          <a:prstGeom prst="rect">
            <a:avLst/>
          </a:prstGeom>
        </p:spPr>
        <p:txBody>
          <a:bodyPr anchor="t" rtlCol="false" tIns="0" lIns="0" bIns="0" rIns="0">
            <a:spAutoFit/>
          </a:bodyPr>
          <a:lstStyle/>
          <a:p>
            <a:pPr algn="l">
              <a:lnSpc>
                <a:spcPts val="2499"/>
              </a:lnSpc>
            </a:pPr>
            <a:r>
              <a:rPr lang="en-US" sz="2499" spc="-149">
                <a:solidFill>
                  <a:srgbClr val="FFFFFF"/>
                </a:solidFill>
                <a:latin typeface="Bricolage Grotesque"/>
                <a:ea typeface="Bricolage Grotesque"/>
                <a:cs typeface="Bricolage Grotesque"/>
                <a:sym typeface="Bricolage Grotesque"/>
              </a:rPr>
              <a:t>Limitations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Currently limited to four parking slots.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Handles events sequentially—no true simultaneous entry/exit support.</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Simulation-only implementation without physical hardware integration.</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Uses a fixed billing rate with no dynamic pricing or membership logic.</a:t>
            </a:r>
          </a:p>
          <a:p>
            <a:pPr algn="l">
              <a:lnSpc>
                <a:spcPts val="2499"/>
              </a:lnSpc>
              <a:spcBef>
                <a:spcPct val="0"/>
              </a:spcBef>
            </a:pPr>
          </a:p>
        </p:txBody>
      </p:sp>
      <p:sp>
        <p:nvSpPr>
          <p:cNvPr name="TextBox 6" id="6"/>
          <p:cNvSpPr txBox="true"/>
          <p:nvPr/>
        </p:nvSpPr>
        <p:spPr>
          <a:xfrm rot="0">
            <a:off x="9144000" y="6195060"/>
            <a:ext cx="8115300" cy="3787775"/>
          </a:xfrm>
          <a:prstGeom prst="rect">
            <a:avLst/>
          </a:prstGeom>
        </p:spPr>
        <p:txBody>
          <a:bodyPr anchor="t" rtlCol="false" tIns="0" lIns="0" bIns="0" rIns="0">
            <a:spAutoFit/>
          </a:bodyPr>
          <a:lstStyle/>
          <a:p>
            <a:pPr algn="l">
              <a:lnSpc>
                <a:spcPts val="2499"/>
              </a:lnSpc>
            </a:pPr>
            <a:r>
              <a:rPr lang="en-US" sz="2499" spc="-149">
                <a:solidFill>
                  <a:srgbClr val="FFFFFF"/>
                </a:solidFill>
                <a:latin typeface="Bricolage Grotesque"/>
                <a:ea typeface="Bricolage Grotesque"/>
                <a:cs typeface="Bricolage Grotesque"/>
                <a:sym typeface="Bricolage Grotesque"/>
              </a:rPr>
              <a:t>Future Scope</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Scale to configurable or higher parking capacity.</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Integrate real hardware (IR sensors, RFID, ANPR, gate motors).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Add IoT features such as mobile payment, cloud monitoring, and remote access.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Support advanced pricing models and reservation-based systems.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Implement parallel event handling with arbitration logic for simultaneous requests.</a:t>
            </a:r>
          </a:p>
          <a:p>
            <a:pPr algn="l" marL="539749" indent="-269875" lvl="1">
              <a:lnSpc>
                <a:spcPts val="2499"/>
              </a:lnSpc>
              <a:buFont typeface="Arial"/>
              <a:buChar char="•"/>
            </a:pPr>
            <a:r>
              <a:rPr lang="en-US" sz="2499" spc="-149">
                <a:solidFill>
                  <a:srgbClr val="FFFFFF"/>
                </a:solidFill>
                <a:latin typeface="Bricolage Grotesque"/>
                <a:ea typeface="Bricolage Grotesque"/>
                <a:cs typeface="Bricolage Grotesque"/>
                <a:sym typeface="Bricolage Grotesque"/>
              </a:rPr>
              <a:t>Deploy on FPGA/microcontroller for real-world validation.</a:t>
            </a:r>
          </a:p>
          <a:p>
            <a:pPr algn="l">
              <a:lnSpc>
                <a:spcPts val="249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4213D"/>
        </a:solidFill>
      </p:bgPr>
    </p:bg>
    <p:spTree>
      <p:nvGrpSpPr>
        <p:cNvPr id="1" name=""/>
        <p:cNvGrpSpPr/>
        <p:nvPr/>
      </p:nvGrpSpPr>
      <p:grpSpPr>
        <a:xfrm>
          <a:off x="0" y="0"/>
          <a:ext cx="0" cy="0"/>
          <a:chOff x="0" y="0"/>
          <a:chExt cx="0" cy="0"/>
        </a:xfrm>
      </p:grpSpPr>
      <p:sp>
        <p:nvSpPr>
          <p:cNvPr name="TextBox 2" id="2"/>
          <p:cNvSpPr txBox="true"/>
          <p:nvPr/>
        </p:nvSpPr>
        <p:spPr>
          <a:xfrm rot="0">
            <a:off x="5451202" y="4508500"/>
            <a:ext cx="7385596" cy="1470026"/>
          </a:xfrm>
          <a:prstGeom prst="rect">
            <a:avLst/>
          </a:prstGeom>
        </p:spPr>
        <p:txBody>
          <a:bodyPr anchor="t" rtlCol="false" tIns="0" lIns="0" bIns="0" rIns="0">
            <a:spAutoFit/>
          </a:bodyPr>
          <a:lstStyle/>
          <a:p>
            <a:pPr algn="ctr">
              <a:lnSpc>
                <a:spcPts val="11000"/>
              </a:lnSpc>
              <a:spcBef>
                <a:spcPct val="0"/>
              </a:spcBef>
            </a:pPr>
            <a:r>
              <a:rPr lang="en-US" b="true" sz="11000" spc="-660">
                <a:solidFill>
                  <a:srgbClr val="FCA311"/>
                </a:solidFill>
                <a:latin typeface="Bricolage Grotesque Semi-Bold"/>
                <a:ea typeface="Bricolage Grotesque Semi-Bold"/>
                <a:cs typeface="Bricolage Grotesque Semi-Bold"/>
                <a:sym typeface="Bricolage Grotesque Semi-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DAG5z15ghig</dc:identifier>
  <dcterms:modified xsi:type="dcterms:W3CDTF">2011-08-01T06:04:30Z</dcterms:modified>
  <cp:revision>1</cp:revision>
  <dc:title>SMART PARKING SYSTEM USING VERILOG HDL</dc:title>
</cp:coreProperties>
</file>